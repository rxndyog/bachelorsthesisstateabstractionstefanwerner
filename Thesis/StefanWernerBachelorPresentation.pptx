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261" r:id="rId6"/>
    <p:sldId id="262" r:id="rId7"/>
    <p:sldId id="267" r:id="rId8"/>
    <p:sldId id="268" r:id="rId9"/>
    <p:sldId id="269" r:id="rId10"/>
    <p:sldId id="264" r:id="rId11"/>
    <p:sldId id="274" r:id="rId12"/>
    <p:sldId id="265" r:id="rId13"/>
    <p:sldId id="266" r:id="rId14"/>
    <p:sldId id="270" r:id="rId15"/>
    <p:sldId id="271" r:id="rId16"/>
    <p:sldId id="273" r:id="rId17"/>
    <p:sldId id="272" r:id="rId18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98" d="100"/>
          <a:sy n="98" d="100"/>
        </p:scale>
        <p:origin x="38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efan\Documents\Coding\Python\Bachelor\Thesis\Kopie%20von%20Evalu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Storage Reduction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</c:v>
                </c:pt>
                <c:pt idx="1">
                  <c:v>11</c:v>
                </c:pt>
                <c:pt idx="2">
                  <c:v>18</c:v>
                </c:pt>
                <c:pt idx="3">
                  <c:v>21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9A-4721-A360-BFAA3BD62D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9A-4721-A360-BFAA3BD62D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9A-4721-A360-BFAA3BD62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Policy Agreement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99.802999999999997</c:v>
                </c:pt>
                <c:pt idx="2">
                  <c:v>99.784000000000006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5A-49A3-BAD9-7F8EBDDB1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99.655000000000001</c:v>
                </c:pt>
                <c:pt idx="2">
                  <c:v>99.628</c:v>
                </c:pt>
                <c:pt idx="3">
                  <c:v>99.631</c:v>
                </c:pt>
                <c:pt idx="4">
                  <c:v>99.644000000000005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5A-49A3-BAD9-7F8EBDDB1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99.834999999999994</c:v>
                </c:pt>
                <c:pt idx="2">
                  <c:v>99.834999999999994</c:v>
                </c:pt>
                <c:pt idx="3">
                  <c:v>99.834999999999994</c:v>
                </c:pt>
                <c:pt idx="4">
                  <c:v>99.834000000000003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5A-49A3-BAD9-7F8EBDDB1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05"/>
          <c:min val="99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Average Q-Error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0.18390000000000001</c:v>
                </c:pt>
                <c:pt idx="2">
                  <c:v>0.2218</c:v>
                </c:pt>
                <c:pt idx="3">
                  <c:v>0.46450000000000002</c:v>
                </c:pt>
                <c:pt idx="4">
                  <c:v>0.4738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C5-4F00-B0B1-D6A5F5480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0.1265</c:v>
                </c:pt>
                <c:pt idx="1">
                  <c:v>0.3044</c:v>
                </c:pt>
                <c:pt idx="2">
                  <c:v>0.32269999999999999</c:v>
                </c:pt>
                <c:pt idx="3">
                  <c:v>0.32290000000000002</c:v>
                </c:pt>
                <c:pt idx="4">
                  <c:v>0.32300000000000001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C5-4F00-B0B1-D6A5F5480B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2.3999999999999998E-3</c:v>
                </c:pt>
                <c:pt idx="1">
                  <c:v>6.1999999999999998E-3</c:v>
                </c:pt>
                <c:pt idx="2">
                  <c:v>6.3E-3</c:v>
                </c:pt>
                <c:pt idx="3">
                  <c:v>6.4999999999999997E-3</c:v>
                </c:pt>
                <c:pt idx="4">
                  <c:v>6.6E-3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C5-4F00-B0B1-D6A5F5480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Total Time per Grid</a:t>
            </a:r>
            <a:r>
              <a:rPr lang="en-US" baseline="0" noProof="0" dirty="0"/>
              <a:t> size</a:t>
            </a:r>
            <a:endParaRPr lang="en-US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Tabelle1!$C$124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Tabelle1!$D$124:$H$124</c:f>
              <c:numCache>
                <c:formatCode>0.000000</c:formatCode>
                <c:ptCount val="5"/>
                <c:pt idx="0">
                  <c:v>112.589320499973</c:v>
                </c:pt>
                <c:pt idx="1">
                  <c:v>107.02759240002985</c:v>
                </c:pt>
                <c:pt idx="2">
                  <c:v>98.854171399987464</c:v>
                </c:pt>
                <c:pt idx="3">
                  <c:v>100.31137689997551</c:v>
                </c:pt>
                <c:pt idx="4">
                  <c:v>101.77989730003081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5-4FD2-9974-25234D7B3F7B}"/>
            </c:ext>
          </c:extLst>
        </c:ser>
        <c:ser>
          <c:idx val="1"/>
          <c:order val="1"/>
          <c:tx>
            <c:strRef>
              <c:f>Tabelle1!$C$125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Tabelle1!$D$125:$H$125</c:f>
              <c:numCache>
                <c:formatCode>0.000000</c:formatCode>
                <c:ptCount val="5"/>
                <c:pt idx="0">
                  <c:v>693.49646449999875</c:v>
                </c:pt>
                <c:pt idx="1">
                  <c:v>867.48310870001933</c:v>
                </c:pt>
                <c:pt idx="2">
                  <c:v>1042.0707571000091</c:v>
                </c:pt>
                <c:pt idx="3">
                  <c:v>1191.5927938999666</c:v>
                </c:pt>
                <c:pt idx="4">
                  <c:v>1488.9312891000236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E5-4FD2-9974-25234D7B3F7B}"/>
            </c:ext>
          </c:extLst>
        </c:ser>
        <c:ser>
          <c:idx val="2"/>
          <c:order val="2"/>
          <c:tx>
            <c:strRef>
              <c:f>Tabelle1!$C$126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Tabelle1!$D$126:$H$126</c:f>
              <c:numCache>
                <c:formatCode>0.000000</c:formatCode>
                <c:ptCount val="5"/>
                <c:pt idx="0">
                  <c:v>4421.3268159999707</c:v>
                </c:pt>
                <c:pt idx="1">
                  <c:v>12394.128421799991</c:v>
                </c:pt>
                <c:pt idx="2">
                  <c:v>25115.942279899915</c:v>
                </c:pt>
                <c:pt idx="3">
                  <c:v>53723.03923609983</c:v>
                </c:pt>
                <c:pt idx="4">
                  <c:v>105443.85842178426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E5-4FD2-9974-25234D7B3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8160112"/>
        <c:axId val="878163472"/>
      </c:barChart>
      <c:catAx>
        <c:axId val="878160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Max Depth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3472"/>
        <c:crosses val="autoZero"/>
        <c:auto val="1"/>
        <c:lblAlgn val="ctr"/>
        <c:lblOffset val="100"/>
        <c:noMultiLvlLbl val="0"/>
      </c:catAx>
      <c:valAx>
        <c:axId val="87816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Time in 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noProof="0" dirty="0">
                <a:solidFill>
                  <a:srgbClr val="1D2733"/>
                </a:solidFill>
              </a:rPr>
              <a:t>Development of a root-state and child-state abstraction algorithm for the game 2048</a:t>
            </a:r>
            <a:br>
              <a:rPr lang="en-US" sz="2400" noProof="0" dirty="0"/>
            </a:br>
            <a:endParaRPr lang="en-US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 Stefan Werner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Motivation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ADF10E-43B0-4A66-975F-E9169C64D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Similar states and actions saved</a:t>
            </a:r>
          </a:p>
          <a:p>
            <a:r>
              <a:rPr lang="en-US" noProof="0" dirty="0"/>
              <a:t>Problem with larger state spaces</a:t>
            </a:r>
          </a:p>
          <a:p>
            <a:r>
              <a:rPr lang="en-US" noProof="0" dirty="0"/>
              <a:t>Storage space increases</a:t>
            </a:r>
          </a:p>
          <a:p>
            <a:r>
              <a:rPr lang="en-US" noProof="0" dirty="0"/>
              <a:t>Many structurally similar states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A79CB2C-7935-B35D-021A-6D8FF563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960" y="2632500"/>
            <a:ext cx="4343400" cy="18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0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0803CD6-09DC-4143-8EFF-1E428159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Methods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48356A9-08D0-27A8-A12B-EF8198008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Splitting existing Q-table in parent table and child table</a:t>
            </a:r>
          </a:p>
          <a:p>
            <a:r>
              <a:rPr lang="en-US" noProof="0" dirty="0"/>
              <a:t>State is depicted as a matrix</a:t>
            </a:r>
          </a:p>
          <a:p>
            <a:r>
              <a:rPr lang="en-US" noProof="0" dirty="0"/>
              <a:t>Sequence of operations (example “</a:t>
            </a:r>
            <a:r>
              <a:rPr lang="en-US" noProof="0" dirty="0" err="1"/>
              <a:t>rdvm</a:t>
            </a:r>
            <a:r>
              <a:rPr lang="en-US" noProof="0" dirty="0"/>
              <a:t>”)</a:t>
            </a:r>
          </a:p>
          <a:p>
            <a:r>
              <a:rPr lang="en-US" noProof="0" dirty="0"/>
              <a:t>Rotation, mirroring and scaling</a:t>
            </a:r>
          </a:p>
          <a:p>
            <a:r>
              <a:rPr lang="en-US" noProof="0" dirty="0"/>
              <a:t>Parent saves Q-values child saves changes from parent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26B2AA-2CE4-4629-8E28-AA9263ED9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B704B6-27A5-4159-A557-675FBE4CF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2E99140-F3A1-3F0B-67C9-6E54EB093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260" y="2632500"/>
            <a:ext cx="4622800" cy="18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9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62F84-10EA-3A37-DB6F-2C063CCD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Procedure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74DF26-189E-5E01-C0AA-CE3E7B77CC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Testing environments: </a:t>
            </a:r>
            <a:br>
              <a:rPr lang="en-US" noProof="0" dirty="0"/>
            </a:br>
            <a:r>
              <a:rPr lang="en-US" noProof="0" dirty="0"/>
              <a:t>2x2, 3x3, 4x4</a:t>
            </a:r>
          </a:p>
          <a:p>
            <a:r>
              <a:rPr lang="en-US" noProof="0" dirty="0"/>
              <a:t>Save original Q-table</a:t>
            </a:r>
            <a:br>
              <a:rPr lang="en-US" noProof="0" dirty="0"/>
            </a:br>
            <a:r>
              <a:rPr lang="en-US" noProof="0" dirty="0"/>
              <a:t>for comparison later</a:t>
            </a:r>
          </a:p>
          <a:p>
            <a:r>
              <a:rPr lang="en-US" noProof="0" dirty="0"/>
              <a:t>Reconstruction step </a:t>
            </a:r>
            <a:br>
              <a:rPr lang="en-US" noProof="0" dirty="0"/>
            </a:br>
            <a:r>
              <a:rPr lang="en-US" noProof="0" dirty="0"/>
              <a:t>uses the same </a:t>
            </a:r>
            <a:br>
              <a:rPr lang="en-US" noProof="0" dirty="0"/>
            </a:br>
            <a:r>
              <a:rPr lang="en-US" noProof="0" dirty="0"/>
              <a:t>methods as Splitting</a:t>
            </a:r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23B7B1-6B63-49B1-CA25-F9F9C55AED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D8019F-D790-397E-F9FD-795A6F33BF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870B293-434F-F680-B679-D8471DD8E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178" y="57152"/>
            <a:ext cx="5726702" cy="27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16D5EB1-72D4-7B4C-7B06-52B8ACED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253" y="2740118"/>
            <a:ext cx="4903469" cy="191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94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04A4-9E8A-DA72-50B5-7B6F8B48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75FD997-5312-E436-6E4A-B4EB29D9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674874"/>
            <a:ext cx="5697227" cy="28611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51C0DB1-55F7-749B-6259-2FA3E6DC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Splitting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2D4E6C-7D56-43A6-42DC-E6E0A4294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Splitting via the „</a:t>
            </a:r>
            <a:r>
              <a:rPr lang="en-US" noProof="0" dirty="0" err="1"/>
              <a:t>PreCalculator</a:t>
            </a:r>
            <a:r>
              <a:rPr lang="en-US" noProof="0" dirty="0"/>
              <a:t>“</a:t>
            </a:r>
          </a:p>
          <a:p>
            <a:r>
              <a:rPr lang="en-US" noProof="0" dirty="0"/>
              <a:t>Operations applied to parent (BFS)</a:t>
            </a:r>
          </a:p>
          <a:p>
            <a:r>
              <a:rPr lang="en-US" noProof="0" dirty="0"/>
              <a:t>All reached states temporarily saved</a:t>
            </a:r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41922D-B8C6-2861-C2BB-20F1C11035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09D82D-631A-F425-4802-40130ACA49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E98618-D836-F61C-013E-7D5BCFD4C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046" y="333879"/>
            <a:ext cx="2438740" cy="102884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60054FC-53B3-C340-8093-699D5499F841}"/>
              </a:ext>
            </a:extLst>
          </p:cNvPr>
          <p:cNvSpPr txBox="1"/>
          <p:nvPr/>
        </p:nvSpPr>
        <p:spPr>
          <a:xfrm>
            <a:off x="6370320" y="145542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l"/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43632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2F4ED-A758-2BC4-C19E-AF3D5EB1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Saving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89501C-1005-804C-7D95-22EF8802F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Looping through original Q-table</a:t>
            </a:r>
          </a:p>
          <a:p>
            <a:r>
              <a:rPr lang="en-US" noProof="0" dirty="0"/>
              <a:t>Applying “</a:t>
            </a:r>
            <a:r>
              <a:rPr lang="en-US" noProof="0" dirty="0" err="1"/>
              <a:t>PreCalculator</a:t>
            </a:r>
            <a:r>
              <a:rPr lang="en-US" noProof="0" dirty="0"/>
              <a:t>”</a:t>
            </a:r>
          </a:p>
          <a:p>
            <a:r>
              <a:rPr lang="en-US" noProof="0" dirty="0"/>
              <a:t>If state in temporary table </a:t>
            </a:r>
            <a:r>
              <a:rPr lang="en-US" noProof="0" dirty="0">
                <a:sym typeface="Wingdings" panose="05000000000000000000" pitchFamily="2" charset="2"/>
              </a:rPr>
              <a:t> child state of the tested state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Else  new parent state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Saving parent and child tables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F80724-FC41-1584-8114-3240CF857C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B0BDC4-AE8D-26BB-17DB-BB4B4A563F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76CA5B8-F337-201F-42FA-A717DC19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3" y="2715831"/>
            <a:ext cx="8170333" cy="182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7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6533A-35AE-9E1E-B512-1E4E11B1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Reconstruction and Evaluation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C291CB-A98D-656F-62CA-EC5AE23D5B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Reconstruction done in reverse order</a:t>
            </a:r>
          </a:p>
          <a:p>
            <a:r>
              <a:rPr lang="en-US" noProof="0" dirty="0"/>
              <a:t>Reconstructed table formed out of parent </a:t>
            </a:r>
            <a:br>
              <a:rPr lang="en-US" noProof="0" dirty="0"/>
            </a:br>
            <a:r>
              <a:rPr lang="en-US" noProof="0" dirty="0"/>
              <a:t>and child table</a:t>
            </a:r>
          </a:p>
          <a:p>
            <a:r>
              <a:rPr lang="en-US" noProof="0" dirty="0"/>
              <a:t>If needed best direction is applied</a:t>
            </a:r>
          </a:p>
          <a:p>
            <a:r>
              <a:rPr lang="en-US" noProof="0" dirty="0"/>
              <a:t>“Force” best direction:</a:t>
            </a:r>
          </a:p>
          <a:p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3CF35C-A6A8-55C9-50F4-819BDDBE75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D19510-141F-9D86-4680-8CD3958086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2CB35D-24A1-F6FB-EA93-F7BD193B3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683" y="1969631"/>
            <a:ext cx="4940617" cy="27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1060B8A-E254-6AC4-7EBB-C27EEC7C3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4" y="2521153"/>
            <a:ext cx="3210837" cy="188404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D49EF8A-F80C-7551-CD2E-7FBE5E03A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689" y="469927"/>
            <a:ext cx="253400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3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E4026-81C9-95C2-E483-599B3305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189BB41A-D9BD-E7B8-BEAB-F00DB43BA595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r>
                  <a:rPr lang="en-US" noProof="0" dirty="0"/>
                  <a:t>Evaluation metrics: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𝑟𝑒𝑑𝑢𝑐𝑡𝑖𝑜𝑛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𝑆𝑡𝑜𝑟𝑎𝑔𝑒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𝑟𝑒𝑑𝑢𝑐𝑡𝑖𝑜𝑛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1 −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𝑎𝑏𝑠𝑡𝑟𝑎𝑐𝑡𝑖𝑜𝑛</m:t>
                        </m:r>
                      </m:sub>
                      <m:sup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500" noProof="0" dirty="0"/>
                  <a:t>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𝑐h𝑖𝑙𝑑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𝑎𝑏𝑠𝑡𝑟𝑎𝑐𝑡𝑖𝑜𝑛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𝑟𝑎𝑡𝑖𝑜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𝑐h𝑖𝑙𝑑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𝑝𝑎𝑟𝑒𝑛𝑡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𝑟𝑎𝑡𝑖𝑜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𝑎𝑔𝑟𝑒𝑒𝑚𝑒𝑛𝑡</m:t>
                        </m:r>
                      </m:sub>
                    </m:sSub>
                  </m:oMath>
                </a14:m>
                <a:r>
                  <a:rPr lang="en-US" sz="1500" noProof="0" dirty="0"/>
                  <a:t>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𝑃𝑜𝑙𝑖𝑐𝑦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𝑎𝑔𝑟𝑒𝑒𝑚𝑒𝑛𝑡</m:t>
                    </m:r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𝑒𝑟𝑟𝑜𝑟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𝑒𝑟𝑟𝑜𝑟</m:t>
                    </m:r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𝑜𝑣𝑒𝑟h𝑒𝑎𝑑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𝑅𝑢𝑛𝑡𝑖𝑚𝑒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𝑜𝑣𝑒𝑟h𝑒𝑎𝑑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𝑠𝑝𝑙𝑖𝑡</m:t>
                        </m:r>
                      </m:sub>
                    </m:sSub>
                    <m:r>
                      <a:rPr lang="en-US" sz="1500" i="1" noProof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𝑟𝑒𝑐𝑜𝑛𝑠𝑡𝑟𝑢𝑐𝑡𝑒𝑑</m:t>
                        </m:r>
                      </m:sub>
                    </m:sSub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𝑜𝑣𝑒𝑟h𝑒𝑎𝑑</m:t>
                        </m:r>
                      </m:sub>
                    </m:sSub>
                  </m:oMath>
                </a14:m>
                <a:r>
                  <a:rPr lang="en-US" sz="1500" noProof="0" dirty="0"/>
                  <a:t> 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𝑀𝑒𝑚𝑜𝑟𝑦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𝑜𝑏𝑒𝑟h𝑒𝑎𝑑</m:t>
                    </m:r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𝑝𝑟𝑜𝑐𝑒𝑠𝑠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𝑛𝑜𝑟𝑚𝑎𝑙</m:t>
                            </m:r>
                          </m:sub>
                        </m:sSub>
                      </m:den>
                    </m:f>
                  </m:oMath>
                </a14:m>
                <a:endParaRPr lang="en-US" sz="1500" noProof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500" i="1" noProof="0">
                            <a:latin typeface="Cambria Math" panose="02040503050406030204" pitchFamily="18" charset="0"/>
                          </a:rPr>
                          <m:t>𝑎𝑣𝑒𝑟𝑎𝑔𝑒</m:t>
                        </m:r>
                      </m:sub>
                    </m:sSub>
                  </m:oMath>
                </a14:m>
                <a:r>
                  <a:rPr lang="en-US" sz="1500" noProof="0" dirty="0"/>
                  <a:t>		</a:t>
                </a: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𝑏𝑒𝑠𝑡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𝑎𝑣𝑒𝑟𝑎𝑔𝑒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𝑡𝑎𝑏𝑙𝑒</m:t>
                    </m:r>
                  </m:oMath>
                </a14:m>
                <a:r>
                  <a:rPr lang="en-US" sz="1500" noProof="0" dirty="0"/>
                  <a:t>		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Textplatzhalter 2">
                <a:extLst>
                  <a:ext uri="{FF2B5EF4-FFF2-40B4-BE49-F238E27FC236}">
                    <a16:creationId xmlns:a16="http://schemas.microsoft.com/office/drawing/2014/main" id="{189BB41A-D9BD-E7B8-BEAB-F00DB43BA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695" t="-195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BDA3D1-754D-AC97-5FEB-24D5168541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CF3C22-0A48-6E98-43CD-20AD8C66FB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73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CD0E9-78A3-3F77-F640-334E7BDC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Storage Reduction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FFC034-382B-74DE-040D-0FDCAF60EC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3x3 environment achieves up to </a:t>
            </a:r>
            <a:br>
              <a:rPr lang="en-US" noProof="0" dirty="0"/>
            </a:br>
            <a:r>
              <a:rPr lang="en-US" noProof="0" dirty="0"/>
              <a:t>56% storage reduction</a:t>
            </a:r>
          </a:p>
          <a:p>
            <a:r>
              <a:rPr lang="en-US" noProof="0" dirty="0"/>
              <a:t>2x2 starts at increased storage </a:t>
            </a:r>
            <a:br>
              <a:rPr lang="en-US" noProof="0" dirty="0"/>
            </a:br>
            <a:r>
              <a:rPr lang="en-US" noProof="0" dirty="0"/>
              <a:t>with -4% and ends at </a:t>
            </a:r>
            <a:br>
              <a:rPr lang="en-US" noProof="0" dirty="0"/>
            </a:br>
            <a:r>
              <a:rPr lang="en-US" noProof="0" dirty="0"/>
              <a:t>25% reduction </a:t>
            </a:r>
          </a:p>
          <a:p>
            <a:r>
              <a:rPr lang="en-US" noProof="0" dirty="0"/>
              <a:t>4x4 has the least reduction </a:t>
            </a:r>
            <a:br>
              <a:rPr lang="en-US" noProof="0" dirty="0"/>
            </a:br>
            <a:r>
              <a:rPr lang="en-US" noProof="0" dirty="0"/>
              <a:t>with an average of 5%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33E218-F4E9-22DA-3F22-0ACF924BA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14B5B3-9C1D-CB81-A407-CA1DDCAB47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9</a:t>
            </a:fld>
            <a:endParaRPr lang="en-US" noProof="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F1BFB43F-C6F3-3BDF-FC13-8177933E9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74640"/>
              </p:ext>
            </p:extLst>
          </p:nvPr>
        </p:nvGraphicFramePr>
        <p:xfrm>
          <a:off x="4567660" y="486000"/>
          <a:ext cx="4266398" cy="2653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1311D3-3138-A3AC-D2BF-E2A66CA55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760176"/>
              </p:ext>
            </p:extLst>
          </p:nvPr>
        </p:nvGraphicFramePr>
        <p:xfrm>
          <a:off x="3045398" y="3616004"/>
          <a:ext cx="5788660" cy="976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1945">
                  <a:extLst>
                    <a:ext uri="{9D8B030D-6E8A-4147-A177-3AD203B41FA5}">
                      <a16:colId xmlns:a16="http://schemas.microsoft.com/office/drawing/2014/main" val="3804688559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3112031393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3076357523"/>
                    </a:ext>
                  </a:extLst>
                </a:gridCol>
                <a:gridCol w="848995">
                  <a:extLst>
                    <a:ext uri="{9D8B030D-6E8A-4147-A177-3AD203B41FA5}">
                      <a16:colId xmlns:a16="http://schemas.microsoft.com/office/drawing/2014/main" val="4206055796"/>
                    </a:ext>
                  </a:extLst>
                </a:gridCol>
                <a:gridCol w="813435">
                  <a:extLst>
                    <a:ext uri="{9D8B030D-6E8A-4147-A177-3AD203B41FA5}">
                      <a16:colId xmlns:a16="http://schemas.microsoft.com/office/drawing/2014/main" val="360212409"/>
                    </a:ext>
                  </a:extLst>
                </a:gridCol>
                <a:gridCol w="813435">
                  <a:extLst>
                    <a:ext uri="{9D8B030D-6E8A-4147-A177-3AD203B41FA5}">
                      <a16:colId xmlns:a16="http://schemas.microsoft.com/office/drawing/2014/main" val="410201912"/>
                    </a:ext>
                  </a:extLst>
                </a:gridCol>
              </a:tblGrid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Storage Reduction 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 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765084441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Grid Size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6513019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2x2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- 4%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11%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18%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21%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755625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3x3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28%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56%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91277409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4x4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6%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5%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93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894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402EF-DB24-CC4D-790D-D495AEE1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Policy Agreement &amp; Q-value Error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889880-B199-B6DB-E107-844A3B932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Policy agreement never below 99,6 percent</a:t>
            </a:r>
          </a:p>
          <a:p>
            <a:r>
              <a:rPr lang="en-US" noProof="0" dirty="0"/>
              <a:t>Average q-error less than 0,5</a:t>
            </a:r>
          </a:p>
          <a:p>
            <a:r>
              <a:rPr lang="en-US" noProof="0" dirty="0"/>
              <a:t>Game performance nearly identical</a:t>
            </a:r>
          </a:p>
          <a:p>
            <a:r>
              <a:rPr lang="en-US" noProof="0" dirty="0"/>
              <a:t>But q-values not the same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D61B2-C647-5CC6-45DC-158F98212E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10D757-2494-8C2B-0312-CC46032B64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10</a:t>
            </a:fld>
            <a:endParaRPr lang="en-US" noProof="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1323C5CB-7318-280D-4E82-E1FAD85D7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078932"/>
              </p:ext>
            </p:extLst>
          </p:nvPr>
        </p:nvGraphicFramePr>
        <p:xfrm>
          <a:off x="377946" y="2131022"/>
          <a:ext cx="4058049" cy="237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1">
            <a:extLst>
              <a:ext uri="{FF2B5EF4-FFF2-40B4-BE49-F238E27FC236}">
                <a16:creationId xmlns:a16="http://schemas.microsoft.com/office/drawing/2014/main" id="{C2D234A8-907F-7C02-4820-525F84344A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696697"/>
              </p:ext>
            </p:extLst>
          </p:nvPr>
        </p:nvGraphicFramePr>
        <p:xfrm>
          <a:off x="4633940" y="2131022"/>
          <a:ext cx="4272194" cy="250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915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6EFA4-F25C-CD00-A446-F85EAC45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Time and Memory Overhead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65076A-E034-85A6-35F5-83C25AB907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No significant memory overhead</a:t>
            </a:r>
          </a:p>
          <a:p>
            <a:r>
              <a:rPr lang="en-US" noProof="0" dirty="0"/>
              <a:t>Extreme time overhead</a:t>
            </a:r>
          </a:p>
          <a:p>
            <a:r>
              <a:rPr lang="en-US" noProof="0" dirty="0"/>
              <a:t>Time </a:t>
            </a:r>
            <a:r>
              <a:rPr lang="en-US" dirty="0"/>
              <a:t>o</a:t>
            </a:r>
            <a:r>
              <a:rPr lang="en-US" noProof="0" dirty="0" err="1"/>
              <a:t>verhead</a:t>
            </a:r>
            <a:r>
              <a:rPr lang="en-US" noProof="0" dirty="0"/>
              <a:t> increased with </a:t>
            </a:r>
            <a:br>
              <a:rPr lang="en-US" noProof="0" dirty="0"/>
            </a:br>
            <a:r>
              <a:rPr lang="en-US" noProof="0" dirty="0"/>
              <a:t>each „</a:t>
            </a:r>
            <a:r>
              <a:rPr lang="en-US" noProof="0" dirty="0" err="1"/>
              <a:t>PreCalculator</a:t>
            </a:r>
            <a:r>
              <a:rPr lang="en-US" noProof="0" dirty="0"/>
              <a:t>“ depth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9E5EA8-6EF6-E6F2-803C-A59E9B7B5F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878D4-C22F-5375-5D54-D04B821808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89504AE7-3541-A10C-FC2A-8AA120559F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840502"/>
              </p:ext>
            </p:extLst>
          </p:nvPr>
        </p:nvGraphicFramePr>
        <p:xfrm>
          <a:off x="5050368" y="553456"/>
          <a:ext cx="3976953" cy="3639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F2B41AD-6C63-8EE6-3483-51012BAB9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82557"/>
              </p:ext>
            </p:extLst>
          </p:nvPr>
        </p:nvGraphicFramePr>
        <p:xfrm>
          <a:off x="237230" y="3655633"/>
          <a:ext cx="5765800" cy="976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60005130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27817480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6181321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8600861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3613578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4160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Time Relativity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noProof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22893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 err="1">
                          <a:effectLst/>
                        </a:rPr>
                        <a:t>Grid_Size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Depth 10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27833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2x2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0,00123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0,00285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0,00335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0,00414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0,00539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587032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3x3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0,59742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0,98558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1,36360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2,31417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3,18643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25327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4x4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2,17796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8,44021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17,75082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35,74774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sz="1100" noProof="0" dirty="0">
                          <a:effectLst/>
                        </a:rPr>
                        <a:t>72,16574</a:t>
                      </a:r>
                      <a:endParaRPr lang="en-US" sz="1100" noProof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3054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95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DB71E-5843-AAC3-7E12-D474A1D9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F92CD-B148-EDF3-5643-1CCC6B2B9E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Parent and child abstraction can reduce storage without great loss of information</a:t>
            </a:r>
          </a:p>
          <a:p>
            <a:r>
              <a:rPr lang="en-US" dirty="0"/>
              <a:t>Game performance nearly identical with reduction in storage space of 56% percent</a:t>
            </a:r>
            <a:endParaRPr lang="en-US" noProof="0" dirty="0"/>
          </a:p>
          <a:p>
            <a:r>
              <a:rPr lang="en-US" noProof="0" dirty="0"/>
              <a:t>Not practical due to time overhead</a:t>
            </a:r>
          </a:p>
          <a:p>
            <a:r>
              <a:rPr lang="en-US" noProof="0" dirty="0"/>
              <a:t>3x3 environment shows best results</a:t>
            </a:r>
          </a:p>
          <a:p>
            <a:r>
              <a:rPr lang="en-US" noProof="0" dirty="0"/>
              <a:t>4x4 is to large given the current operation set</a:t>
            </a:r>
          </a:p>
          <a:p>
            <a:r>
              <a:rPr lang="en-US" dirty="0"/>
              <a:t>Action values of parent inevitably leads to loss of information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7A1230-C667-13DC-55D2-3BF32C335A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282C4D-5D9B-DF82-F237-5166ADA96D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995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5649AA-69A6-DF09-78A8-2016B387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Challenges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2FE42-2880-A5C2-C8EA-131CA7373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Extremely long waiting time for 4x4 environment</a:t>
            </a:r>
          </a:p>
          <a:p>
            <a:r>
              <a:rPr lang="en-US" dirty="0"/>
              <a:t>Splitting algorithm</a:t>
            </a:r>
          </a:p>
          <a:p>
            <a:r>
              <a:rPr lang="en-US" noProof="0" dirty="0"/>
              <a:t>Better operations</a:t>
            </a:r>
          </a:p>
          <a:p>
            <a:r>
              <a:rPr lang="en-US" noProof="0" dirty="0"/>
              <a:t>Policy agreement</a:t>
            </a:r>
          </a:p>
          <a:p>
            <a:r>
              <a:rPr lang="en-US" noProof="0" dirty="0"/>
              <a:t>Training on 2 tables instead of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E94B2F-AC21-DD07-A546-5818E369DB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5D3737-6DFF-01FC-450C-79960D5EA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573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D1802-CEF5-1621-6D78-39C97A0B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Outlook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FB04C0-604C-1513-A195-4BD0F808A4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Optimization of the splitting algorithm</a:t>
            </a:r>
          </a:p>
          <a:p>
            <a:r>
              <a:rPr lang="en-US" dirty="0"/>
              <a:t>Intelligent parent state selection</a:t>
            </a:r>
          </a:p>
          <a:p>
            <a:r>
              <a:rPr lang="en-US" noProof="0" dirty="0"/>
              <a:t>Adaptive searching</a:t>
            </a:r>
          </a:p>
          <a:p>
            <a:r>
              <a:rPr lang="en-US" dirty="0"/>
              <a:t>Adaptive “</a:t>
            </a:r>
            <a:r>
              <a:rPr lang="en-US" dirty="0" err="1"/>
              <a:t>PreCalculator</a:t>
            </a:r>
            <a:r>
              <a:rPr lang="en-US" dirty="0"/>
              <a:t>” depth search</a:t>
            </a:r>
          </a:p>
          <a:p>
            <a:r>
              <a:rPr lang="en-US" noProof="0" dirty="0"/>
              <a:t>Increased storage reduction</a:t>
            </a:r>
          </a:p>
          <a:p>
            <a:r>
              <a:rPr lang="en-US" dirty="0"/>
              <a:t>Reduction in Loss of information</a:t>
            </a:r>
          </a:p>
          <a:p>
            <a:r>
              <a:rPr lang="en-US" dirty="0"/>
              <a:t>Operation Concepts such as:</a:t>
            </a:r>
          </a:p>
          <a:p>
            <a:pPr lvl="1"/>
            <a:r>
              <a:rPr lang="en-US" dirty="0"/>
              <a:t>Edge expansion, Triangle detection, chunk detection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0C6322-A887-B15B-2E90-CA38AFD96F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174200-C0EA-AFFA-4270-431F670E3A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533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A6A176E201304DBCA7A45266A0DAAE" ma:contentTypeVersion="5" ma:contentTypeDescription="Ein neues Dokument erstellen." ma:contentTypeScope="" ma:versionID="d88ff1cb79a342c70fa6bb8aeaf67b39">
  <xsd:schema xmlns:xsd="http://www.w3.org/2001/XMLSchema" xmlns:xs="http://www.w3.org/2001/XMLSchema" xmlns:p="http://schemas.microsoft.com/office/2006/metadata/properties" xmlns:ns3="0cfff6e3-632b-49cb-b70b-702b936689ff" targetNamespace="http://schemas.microsoft.com/office/2006/metadata/properties" ma:root="true" ma:fieldsID="93c081cb8b485355971f8d67c31482cf" ns3:_="">
    <xsd:import namespace="0cfff6e3-632b-49cb-b70b-702b936689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f6e3-632b-49cb-b70b-702b93668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B10ABA-C20B-4DD7-8166-4C8134DFEC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fff6e3-632b-49cb-b70b-702b93668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66ED67-DB0D-40B3-9F54-7F30370BB7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70B53E-5918-4A48-B895-E57A7C6FD7C8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0cfff6e3-632b-49cb-b70b-702b936689f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FHTW Powerpoint-Vorlage 16zu9 -accessible-2022-01-31 (1)</Template>
  <TotalTime>0</TotalTime>
  <Words>718</Words>
  <Application>Microsoft Office PowerPoint</Application>
  <PresentationFormat>Bildschirmpräsentation (16:9)</PresentationFormat>
  <Paragraphs>164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Symbol</vt:lpstr>
      <vt:lpstr>Times New Roman</vt:lpstr>
      <vt:lpstr>Wingdings</vt:lpstr>
      <vt:lpstr>Office</vt:lpstr>
      <vt:lpstr>Development of a root-state and child-state abstraction algorithm for the game 2048 </vt:lpstr>
      <vt:lpstr>Motivation</vt:lpstr>
      <vt:lpstr>Methods</vt:lpstr>
      <vt:lpstr>Procedure</vt:lpstr>
      <vt:lpstr>Splitting</vt:lpstr>
      <vt:lpstr>Saving</vt:lpstr>
      <vt:lpstr>Reconstruction and Evaluation</vt:lpstr>
      <vt:lpstr>Evaluation</vt:lpstr>
      <vt:lpstr>Results – Storage Reduction</vt:lpstr>
      <vt:lpstr>Results – Policy Agreement &amp; Q-value Error </vt:lpstr>
      <vt:lpstr>Results – Time and Memory Overhead</vt:lpstr>
      <vt:lpstr>Conclusion</vt:lpstr>
      <vt:lpstr>Challenges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Werner</dc:creator>
  <cp:lastModifiedBy>Stefan Werner</cp:lastModifiedBy>
  <cp:revision>6</cp:revision>
  <dcterms:created xsi:type="dcterms:W3CDTF">2026-05-31T10:54:57Z</dcterms:created>
  <dcterms:modified xsi:type="dcterms:W3CDTF">2026-06-11T12:35:21Z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0x01010045A6A176E201304DBCA7A45266A0DAAE</vt:lpwstr>
  </property>
</Properties>
</file>