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63" r:id="rId5"/>
    <p:sldId id="275" r:id="rId6"/>
    <p:sldId id="267" r:id="rId7"/>
    <p:sldId id="268" r:id="rId8"/>
    <p:sldId id="269" r:id="rId9"/>
    <p:sldId id="265" r:id="rId10"/>
    <p:sldId id="270" r:id="rId11"/>
    <p:sldId id="271" r:id="rId12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98" d="100"/>
          <a:sy n="98" d="100"/>
        </p:scale>
        <p:origin x="38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tefan\Documents\Coding\Python\Bachelor\Thesis\Kopie%20von%20Evalu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Storage Reduction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-4</c:v>
                </c:pt>
                <c:pt idx="1">
                  <c:v>11</c:v>
                </c:pt>
                <c:pt idx="2">
                  <c:v>18</c:v>
                </c:pt>
                <c:pt idx="3">
                  <c:v>21</c:v>
                </c:pt>
                <c:pt idx="4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29A-4721-A360-BFAA3BD62DD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29A-4721-A360-BFAA3BD62DD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6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29A-4721-A360-BFAA3BD62D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1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Policy Agreement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99.802999999999997</c:v>
                </c:pt>
                <c:pt idx="2">
                  <c:v>99.784000000000006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5A-4351-BFDC-550049F562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99.655000000000001</c:v>
                </c:pt>
                <c:pt idx="2">
                  <c:v>99.628</c:v>
                </c:pt>
                <c:pt idx="3">
                  <c:v>99.631</c:v>
                </c:pt>
                <c:pt idx="4">
                  <c:v>99.644000000000005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5A-4351-BFDC-550049F5627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99.834999999999994</c:v>
                </c:pt>
                <c:pt idx="2">
                  <c:v>99.834999999999994</c:v>
                </c:pt>
                <c:pt idx="3">
                  <c:v>99.834999999999994</c:v>
                </c:pt>
                <c:pt idx="4">
                  <c:v>99.834000000000003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5A-4351-BFDC-550049F562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.05"/>
          <c:min val="99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 noProof="0" dirty="0">
                <a:solidFill>
                  <a:srgbClr val="000000"/>
                </a:solidFill>
                <a:latin typeface="Arial"/>
              </a:rPr>
              <a:t>Average Q-Error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2×2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0.18390000000000001</c:v>
                </c:pt>
                <c:pt idx="2">
                  <c:v>0.2218</c:v>
                </c:pt>
                <c:pt idx="3">
                  <c:v>0.46450000000000002</c:v>
                </c:pt>
                <c:pt idx="4">
                  <c:v>0.4738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F3-45E1-8C15-61A7B3006F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3×3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0.1265</c:v>
                </c:pt>
                <c:pt idx="1">
                  <c:v>0.3044</c:v>
                </c:pt>
                <c:pt idx="2">
                  <c:v>0.32269999999999999</c:v>
                </c:pt>
                <c:pt idx="3">
                  <c:v>0.32290000000000002</c:v>
                </c:pt>
                <c:pt idx="4">
                  <c:v>0.32300000000000001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F3-45E1-8C15-61A7B3006F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4×4</c:v>
                </c:pt>
              </c:strCache>
            </c:strRef>
          </c:tx>
          <c:spPr>
            <a:ln w="25400" cap="flat">
              <a:solidFill>
                <a:srgbClr val="9BBB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B59"/>
              </a:solidFill>
              <a:ln w="9525" cap="flat">
                <a:solidFill>
                  <a:srgbClr val="9BBB5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D1</c:v>
                </c:pt>
                <c:pt idx="1">
                  <c:v>D3</c:v>
                </c:pt>
                <c:pt idx="2">
                  <c:v>D5</c:v>
                </c:pt>
                <c:pt idx="3">
                  <c:v>D7</c:v>
                </c:pt>
                <c:pt idx="4">
                  <c:v>D10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2.3999999999999998E-3</c:v>
                </c:pt>
                <c:pt idx="1">
                  <c:v>6.1999999999999998E-3</c:v>
                </c:pt>
                <c:pt idx="2">
                  <c:v>6.3E-3</c:v>
                </c:pt>
                <c:pt idx="3">
                  <c:v>6.4999999999999997E-3</c:v>
                </c:pt>
                <c:pt idx="4">
                  <c:v>6.6E-3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F3-45E1-8C15-61A7B3006F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Total Time per Grid</a:t>
            </a:r>
            <a:r>
              <a:rPr lang="en-US" baseline="0" noProof="0" dirty="0"/>
              <a:t> size</a:t>
            </a:r>
            <a:endParaRPr lang="en-US" noProof="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Tabelle1!$C$124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Tabelle1!$D$124:$H$124</c:f>
              <c:numCache>
                <c:formatCode>0.000000</c:formatCode>
                <c:ptCount val="5"/>
                <c:pt idx="0">
                  <c:v>112.589320499973</c:v>
                </c:pt>
                <c:pt idx="1">
                  <c:v>107.02759240002985</c:v>
                </c:pt>
                <c:pt idx="2">
                  <c:v>98.854171399987464</c:v>
                </c:pt>
                <c:pt idx="3">
                  <c:v>100.31137689997551</c:v>
                </c:pt>
                <c:pt idx="4">
                  <c:v>101.77989730003081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E5-4FD2-9974-25234D7B3F7B}"/>
            </c:ext>
          </c:extLst>
        </c:ser>
        <c:ser>
          <c:idx val="1"/>
          <c:order val="1"/>
          <c:tx>
            <c:strRef>
              <c:f>Tabelle1!$C$125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Tabelle1!$D$125:$H$125</c:f>
              <c:numCache>
                <c:formatCode>0.000000</c:formatCode>
                <c:ptCount val="5"/>
                <c:pt idx="0">
                  <c:v>693.49646449999875</c:v>
                </c:pt>
                <c:pt idx="1">
                  <c:v>867.48310870001933</c:v>
                </c:pt>
                <c:pt idx="2">
                  <c:v>1042.0707571000091</c:v>
                </c:pt>
                <c:pt idx="3">
                  <c:v>1191.5927938999666</c:v>
                </c:pt>
                <c:pt idx="4">
                  <c:v>1488.9312891000236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E5-4FD2-9974-25234D7B3F7B}"/>
            </c:ext>
          </c:extLst>
        </c:ser>
        <c:ser>
          <c:idx val="2"/>
          <c:order val="2"/>
          <c:tx>
            <c:strRef>
              <c:f>Tabelle1!$C$126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Tabelle1!$D$123:$H$123</c:f>
              <c:strCache>
                <c:ptCount val="5"/>
                <c:pt idx="0">
                  <c:v>Depth 1</c:v>
                </c:pt>
                <c:pt idx="1">
                  <c:v>Depth 3</c:v>
                </c:pt>
                <c:pt idx="2">
                  <c:v>Depth 5</c:v>
                </c:pt>
                <c:pt idx="3">
                  <c:v>Depth 7</c:v>
                </c:pt>
                <c:pt idx="4">
                  <c:v>Depth 10</c:v>
                </c:pt>
              </c:strCache>
            </c:strRef>
          </c:cat>
          <c:val>
            <c:numRef>
              <c:f>Tabelle1!$D$126:$H$126</c:f>
              <c:numCache>
                <c:formatCode>0.000000</c:formatCode>
                <c:ptCount val="5"/>
                <c:pt idx="0">
                  <c:v>4421.3268159999707</c:v>
                </c:pt>
                <c:pt idx="1">
                  <c:v>12394.128421799991</c:v>
                </c:pt>
                <c:pt idx="2">
                  <c:v>25115.942279899915</c:v>
                </c:pt>
                <c:pt idx="3">
                  <c:v>53723.03923609983</c:v>
                </c:pt>
                <c:pt idx="4">
                  <c:v>105443.85842178426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E5-4FD2-9974-25234D7B3F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8160112"/>
        <c:axId val="878163472"/>
      </c:barChart>
      <c:catAx>
        <c:axId val="878160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Max Depth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3472"/>
        <c:crosses val="autoZero"/>
        <c:auto val="1"/>
        <c:lblAlgn val="ctr"/>
        <c:lblOffset val="100"/>
        <c:noMultiLvlLbl val="0"/>
      </c:catAx>
      <c:valAx>
        <c:axId val="87816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noProof="0" dirty="0"/>
                  <a:t>Time in Seconds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87816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Root-State and Child-State Q-table Abstraction | Stefan Werner | 31.05.2026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400" noProof="0" dirty="0">
                <a:solidFill>
                  <a:srgbClr val="1D2733"/>
                </a:solidFill>
              </a:rPr>
              <a:t>Development of a root-state and child-state abstraction algorithm for the game 2048</a:t>
            </a:r>
            <a:br>
              <a:rPr lang="en-US" sz="2400" noProof="0" dirty="0"/>
            </a:br>
            <a:endParaRPr lang="en-US" noProof="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 Stefan Werner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D7D331-F54D-E371-2F4A-769F860CA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Motivation and Methods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4E2630-B267-07F4-C4F6-1F5BCA251C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Saving both A and B </a:t>
            </a:r>
            <a:br>
              <a:rPr lang="en-US" noProof="0" dirty="0"/>
            </a:br>
            <a:r>
              <a:rPr lang="en-US" noProof="0" dirty="0"/>
              <a:t>= a lot of storage wasted</a:t>
            </a:r>
          </a:p>
          <a:p>
            <a:endParaRPr lang="en-US" dirty="0"/>
          </a:p>
          <a:p>
            <a:endParaRPr lang="en-US" noProof="0" dirty="0"/>
          </a:p>
          <a:p>
            <a:endParaRPr lang="en-US" dirty="0"/>
          </a:p>
          <a:p>
            <a:endParaRPr lang="en-US" noProof="0" dirty="0"/>
          </a:p>
          <a:p>
            <a:r>
              <a:rPr lang="en-US" dirty="0"/>
              <a:t>Saving only A with a link to B </a:t>
            </a:r>
            <a:br>
              <a:rPr lang="en-US" dirty="0"/>
            </a:br>
            <a:r>
              <a:rPr lang="en-US" dirty="0"/>
              <a:t>= reduced storage space</a:t>
            </a: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84A522-5475-49AA-BA38-7A5058FE91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538EA21-A5BC-2AD0-B623-2C25A68533B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7D374E2-ECB1-2DE2-3092-E3D792151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379" y="554975"/>
            <a:ext cx="3879098" cy="162763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0357DD8-5BD1-8F5D-5182-EB77B5AFB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273" y="2659520"/>
            <a:ext cx="3858316" cy="152106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220E2CC-40D2-2040-8066-2F8306FA4141}"/>
              </a:ext>
            </a:extLst>
          </p:cNvPr>
          <p:cNvSpPr txBox="1"/>
          <p:nvPr/>
        </p:nvSpPr>
        <p:spPr>
          <a:xfrm>
            <a:off x="6725055" y="4435813"/>
            <a:ext cx="2418944" cy="973813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l"/>
            <a:r>
              <a:rPr lang="de-DE" sz="1100" dirty="0">
                <a:solidFill>
                  <a:schemeClr val="bg2">
                    <a:lumMod val="65000"/>
                  </a:schemeClr>
                </a:solidFill>
              </a:rPr>
              <a:t>*</a:t>
            </a:r>
            <a:r>
              <a:rPr lang="de-DE" sz="1100" dirty="0" err="1">
                <a:solidFill>
                  <a:schemeClr val="bg2">
                    <a:lumMod val="65000"/>
                  </a:schemeClr>
                </a:solidFill>
              </a:rPr>
              <a:t>Example</a:t>
            </a:r>
            <a:r>
              <a:rPr lang="de-DE" sz="1100" dirty="0">
                <a:solidFill>
                  <a:schemeClr val="bg2">
                    <a:lumMod val="65000"/>
                  </a:schemeClr>
                </a:solidFill>
              </a:rPr>
              <a:t> 4x4 </a:t>
            </a:r>
            <a:r>
              <a:rPr lang="de-DE" sz="1100" dirty="0" err="1">
                <a:solidFill>
                  <a:schemeClr val="bg2">
                    <a:lumMod val="65000"/>
                  </a:schemeClr>
                </a:solidFill>
              </a:rPr>
              <a:t>environment</a:t>
            </a:r>
            <a:endParaRPr lang="de-DE" sz="1100" dirty="0">
              <a:solidFill>
                <a:schemeClr val="bg2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098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62F84-10EA-3A37-DB6F-2C063CCD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Procedure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23B7B1-6B63-49B1-CA25-F9F9C55AED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5D8019F-D790-397E-F9FD-795A6F33BF0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3</a:t>
            </a:fld>
            <a:endParaRPr lang="en-US" noProof="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870B293-434F-F680-B679-D8471DD8E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734" y="333879"/>
            <a:ext cx="5408632" cy="260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16D5EB1-72D4-7B4C-7B06-52B8ACED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815" y="2872794"/>
            <a:ext cx="4702378" cy="183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94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04A4-9E8A-DA72-50B5-7B6F8B48C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C75FD997-5312-E436-6E4A-B4EB29D9F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17" y="666496"/>
            <a:ext cx="7159870" cy="359566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51C0DB1-55F7-749B-6259-2FA3E6DC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Splitting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D41922D-B8C6-2861-C2BB-20F1C110355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609D82D-631A-F425-4802-40130ACA49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0054FC-53B3-C340-8093-699D5499F841}"/>
              </a:ext>
            </a:extLst>
          </p:cNvPr>
          <p:cNvSpPr txBox="1"/>
          <p:nvPr/>
        </p:nvSpPr>
        <p:spPr>
          <a:xfrm>
            <a:off x="6370320" y="145542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algn="l"/>
            <a:endParaRPr lang="en-US" sz="2800" noProof="0" dirty="0"/>
          </a:p>
        </p:txBody>
      </p:sp>
    </p:spTree>
    <p:extLst>
      <p:ext uri="{BB962C8B-B14F-4D97-AF65-F5344CB8AC3E}">
        <p14:creationId xmlns:p14="http://schemas.microsoft.com/office/powerpoint/2010/main" val="3436323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B2F4ED-A758-2BC4-C19E-AF3D5EB10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Saving and Reconstruction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DF80724-FC41-1584-8114-3240CF857CC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DB0BDC4-AE8D-26BB-17DB-BB4B4A563FC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76CA5B8-F337-201F-42FA-A717DC196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33" y="751581"/>
            <a:ext cx="8170333" cy="1820169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9105E55F-0BFE-031F-4A7D-FF15AF80E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21" y="2230329"/>
            <a:ext cx="4373488" cy="242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48E4DAD-E8F1-BF26-732F-3A79A1330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969" y="2625794"/>
            <a:ext cx="3210837" cy="188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67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5CD0E9-78A3-3F77-F640-334E7BDC9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200" noProof="0" dirty="0"/>
              <a:t>Results – Storage Reduction, Policy Agreement and Q-Error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33E218-F4E9-22DA-3F22-0ACF924BA5A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C14B5B3-9C1D-CB81-A407-CA1DDCAB47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6</a:t>
            </a:fld>
            <a:endParaRPr lang="en-US" noProof="0" dirty="0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F1BFB43F-C6F3-3BDF-FC13-8177933E9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2395746"/>
              </p:ext>
            </p:extLst>
          </p:nvPr>
        </p:nvGraphicFramePr>
        <p:xfrm>
          <a:off x="440081" y="607500"/>
          <a:ext cx="3797968" cy="23700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0">
            <a:extLst>
              <a:ext uri="{FF2B5EF4-FFF2-40B4-BE49-F238E27FC236}">
                <a16:creationId xmlns:a16="http://schemas.microsoft.com/office/drawing/2014/main" id="{52AEB952-498F-3F05-778D-3226F513A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480392"/>
              </p:ext>
            </p:extLst>
          </p:nvPr>
        </p:nvGraphicFramePr>
        <p:xfrm>
          <a:off x="4744098" y="607500"/>
          <a:ext cx="3797968" cy="2169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>
            <a:extLst>
              <a:ext uri="{FF2B5EF4-FFF2-40B4-BE49-F238E27FC236}">
                <a16:creationId xmlns:a16="http://schemas.microsoft.com/office/drawing/2014/main" id="{50039E26-C055-68C2-798B-E54C026D1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4232847"/>
              </p:ext>
            </p:extLst>
          </p:nvPr>
        </p:nvGraphicFramePr>
        <p:xfrm>
          <a:off x="2845113" y="2571750"/>
          <a:ext cx="3797969" cy="2111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47894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E6EFA4-F25C-CD00-A446-F85EAC453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Results – Time and Memory Overhead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65076A-E034-85A6-35F5-83C25AB907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No significant memory overhead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39E5EA8-6EF6-E6F2-803C-A59E9B7B5F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E878D4-C22F-5375-5D54-D04B821808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7</a:t>
            </a:fld>
            <a:endParaRPr lang="en-US" noProof="0" dirty="0"/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89504AE7-3541-A10C-FC2A-8AA120559F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6379714"/>
              </p:ext>
            </p:extLst>
          </p:nvPr>
        </p:nvGraphicFramePr>
        <p:xfrm>
          <a:off x="2451948" y="1072205"/>
          <a:ext cx="3976953" cy="3639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695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DB71E-5843-AAC3-7E12-D474A1D9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Conclusion, Challenges and Future Outlook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AF92CD-B148-EDF3-5643-1CCC6B2B9E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7A1230-C667-13DC-55D2-3BF32C335A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Root-State and Child-State Q-table Abstraction | Stefan Werner | 31.05.2026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282C4D-5D9B-DF82-F237-5166ADA96D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F0C897-E8E8-B08B-0949-E0EB8118A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72" y="718730"/>
            <a:ext cx="8523975" cy="38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55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5A6A176E201304DBCA7A45266A0DAAE" ma:contentTypeVersion="5" ma:contentTypeDescription="Ein neues Dokument erstellen." ma:contentTypeScope="" ma:versionID="d88ff1cb79a342c70fa6bb8aeaf67b39">
  <xsd:schema xmlns:xsd="http://www.w3.org/2001/XMLSchema" xmlns:xs="http://www.w3.org/2001/XMLSchema" xmlns:p="http://schemas.microsoft.com/office/2006/metadata/properties" xmlns:ns3="0cfff6e3-632b-49cb-b70b-702b936689ff" targetNamespace="http://schemas.microsoft.com/office/2006/metadata/properties" ma:root="true" ma:fieldsID="93c081cb8b485355971f8d67c31482cf" ns3:_="">
    <xsd:import namespace="0cfff6e3-632b-49cb-b70b-702b936689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fff6e3-632b-49cb-b70b-702b936689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66ED67-DB0D-40B3-9F54-7F30370BB7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B10ABA-C20B-4DD7-8166-4C8134DFEC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fff6e3-632b-49cb-b70b-702b936689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70B53E-5918-4A48-B895-E57A7C6FD7C8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0cfff6e3-632b-49cb-b70b-702b936689ff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FHTW Powerpoint-Vorlage 16zu9 -accessible-2022-01-31 (1)</Template>
  <TotalTime>0</TotalTime>
  <Words>173</Words>
  <Application>Microsoft Office PowerPoint</Application>
  <PresentationFormat>Bildschirmpräsentation (16:9)</PresentationFormat>
  <Paragraphs>37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Symbol</vt:lpstr>
      <vt:lpstr>Office</vt:lpstr>
      <vt:lpstr>Development of a root-state and child-state abstraction algorithm for the game 2048 </vt:lpstr>
      <vt:lpstr>Motivation and Methods</vt:lpstr>
      <vt:lpstr>Procedure</vt:lpstr>
      <vt:lpstr>Splitting</vt:lpstr>
      <vt:lpstr>Saving and Reconstruction</vt:lpstr>
      <vt:lpstr>Results – Storage Reduction, Policy Agreement and Q-Error</vt:lpstr>
      <vt:lpstr>Results – Time and Memory Overhead</vt:lpstr>
      <vt:lpstr>Conclusion, Challenges and 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Werner</dc:creator>
  <cp:lastModifiedBy>Stefan Werner</cp:lastModifiedBy>
  <cp:revision>11</cp:revision>
  <dcterms:created xsi:type="dcterms:W3CDTF">2026-05-31T10:54:57Z</dcterms:created>
  <dcterms:modified xsi:type="dcterms:W3CDTF">2026-06-11T18:51:56Z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0x01010045A6A176E201304DBCA7A45266A0DAAE</vt:lpwstr>
  </property>
</Properties>
</file>