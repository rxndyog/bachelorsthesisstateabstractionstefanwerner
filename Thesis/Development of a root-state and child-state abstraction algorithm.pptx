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63" r:id="rId5"/>
    <p:sldId id="261" r:id="rId6"/>
    <p:sldId id="262" r:id="rId7"/>
    <p:sldId id="267" r:id="rId8"/>
    <p:sldId id="268" r:id="rId9"/>
    <p:sldId id="269" r:id="rId10"/>
    <p:sldId id="264" r:id="rId11"/>
    <p:sldId id="274" r:id="rId12"/>
    <p:sldId id="265" r:id="rId13"/>
    <p:sldId id="266" r:id="rId14"/>
    <p:sldId id="270" r:id="rId15"/>
    <p:sldId id="271" r:id="rId16"/>
    <p:sldId id="273" r:id="rId17"/>
    <p:sldId id="272" r:id="rId18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A96"/>
    <a:srgbClr val="72777A"/>
    <a:srgbClr val="8BB3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5652" autoAdjust="0"/>
  </p:normalViewPr>
  <p:slideViewPr>
    <p:cSldViewPr snapToGrid="0">
      <p:cViewPr>
        <p:scale>
          <a:sx n="125" d="100"/>
          <a:sy n="125" d="100"/>
        </p:scale>
        <p:origin x="1230" y="4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70" d="100"/>
          <a:sy n="70" d="100"/>
        </p:scale>
        <p:origin x="25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Stefan\Documents\Coding\Python\Bachelor\Thesis\Kopie%20von%20Evaluatio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 noProof="0" dirty="0">
                <a:solidFill>
                  <a:srgbClr val="000000"/>
                </a:solidFill>
                <a:latin typeface="Arial"/>
              </a:rPr>
              <a:t>Storage Reduction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2×2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-4</c:v>
                </c:pt>
                <c:pt idx="1">
                  <c:v>11</c:v>
                </c:pt>
                <c:pt idx="2">
                  <c:v>18</c:v>
                </c:pt>
                <c:pt idx="3">
                  <c:v>21</c:v>
                </c:pt>
                <c:pt idx="4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29A-4721-A360-BFAA3BD62DD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3×3</c:v>
                </c:pt>
              </c:strCache>
            </c:strRef>
          </c:tx>
          <c:spPr>
            <a:ln w="2540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28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29A-4721-A360-BFAA3BD62DD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4×4</c:v>
                </c:pt>
              </c:strCache>
            </c:strRef>
          </c:tx>
          <c:spPr>
            <a:ln w="25400" cap="flat">
              <a:solidFill>
                <a:srgbClr val="9BBB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BB59"/>
              </a:solidFill>
              <a:ln w="9525" cap="flat">
                <a:solidFill>
                  <a:srgbClr val="9BBB59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</c:v>
                </c:pt>
                <c:pt idx="1">
                  <c:v>6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29A-4721-A360-BFAA3BD62D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-1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 noProof="0" dirty="0">
                <a:solidFill>
                  <a:srgbClr val="000000"/>
                </a:solidFill>
                <a:latin typeface="Arial"/>
              </a:rPr>
              <a:t>Policy Agreement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2×2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99.802999999999997</c:v>
                </c:pt>
                <c:pt idx="2">
                  <c:v>99.784000000000006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15A-49A3-BAD9-7F8EBDDB170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3×3</c:v>
                </c:pt>
              </c:strCache>
            </c:strRef>
          </c:tx>
          <c:spPr>
            <a:ln w="2540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99.655000000000001</c:v>
                </c:pt>
                <c:pt idx="2">
                  <c:v>99.628</c:v>
                </c:pt>
                <c:pt idx="3">
                  <c:v>99.631</c:v>
                </c:pt>
                <c:pt idx="4">
                  <c:v>99.644000000000005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15A-49A3-BAD9-7F8EBDDB170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4×4</c:v>
                </c:pt>
              </c:strCache>
            </c:strRef>
          </c:tx>
          <c:spPr>
            <a:ln w="25400" cap="flat">
              <a:solidFill>
                <a:srgbClr val="9BBB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BB59"/>
              </a:solidFill>
              <a:ln w="9525" cap="flat">
                <a:solidFill>
                  <a:srgbClr val="9BBB59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99.834999999999994</c:v>
                </c:pt>
                <c:pt idx="2">
                  <c:v>99.834999999999994</c:v>
                </c:pt>
                <c:pt idx="3">
                  <c:v>99.834999999999994</c:v>
                </c:pt>
                <c:pt idx="4">
                  <c:v>99.834000000000003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15A-49A3-BAD9-7F8EBDDB17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.05"/>
          <c:min val="99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 noProof="0" dirty="0">
                <a:solidFill>
                  <a:srgbClr val="000000"/>
                </a:solidFill>
                <a:latin typeface="Arial"/>
              </a:rPr>
              <a:t>Average Q-Error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2×2</c:v>
                </c:pt>
              </c:strCache>
            </c:strRef>
          </c:tx>
          <c:spPr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0.18390000000000001</c:v>
                </c:pt>
                <c:pt idx="2">
                  <c:v>0.2218</c:v>
                </c:pt>
                <c:pt idx="3">
                  <c:v>0.46450000000000002</c:v>
                </c:pt>
                <c:pt idx="4">
                  <c:v>0.4738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AC5-4F00-B0B1-D6A5F5480B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3×3</c:v>
                </c:pt>
              </c:strCache>
            </c:strRef>
          </c:tx>
          <c:spPr>
            <a:ln w="25400" cap="flat">
              <a:solidFill>
                <a:srgbClr val="4F81B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0.1265</c:v>
                </c:pt>
                <c:pt idx="1">
                  <c:v>0.3044</c:v>
                </c:pt>
                <c:pt idx="2">
                  <c:v>0.32269999999999999</c:v>
                </c:pt>
                <c:pt idx="3">
                  <c:v>0.32290000000000002</c:v>
                </c:pt>
                <c:pt idx="4">
                  <c:v>0.32300000000000001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AC5-4F00-B0B1-D6A5F5480B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4×4</c:v>
                </c:pt>
              </c:strCache>
            </c:strRef>
          </c:tx>
          <c:spPr>
            <a:ln w="25400" cap="flat">
              <a:solidFill>
                <a:srgbClr val="9BBB5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BB59"/>
              </a:solidFill>
              <a:ln w="9525" cap="flat">
                <a:solidFill>
                  <a:srgbClr val="9BBB59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D1</c:v>
                </c:pt>
                <c:pt idx="1">
                  <c:v>D3</c:v>
                </c:pt>
                <c:pt idx="2">
                  <c:v>D5</c:v>
                </c:pt>
                <c:pt idx="3">
                  <c:v>D7</c:v>
                </c:pt>
                <c:pt idx="4">
                  <c:v>D10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2.3999999999999998E-3</c:v>
                </c:pt>
                <c:pt idx="1">
                  <c:v>6.1999999999999998E-3</c:v>
                </c:pt>
                <c:pt idx="2">
                  <c:v>6.3E-3</c:v>
                </c:pt>
                <c:pt idx="3">
                  <c:v>6.4999999999999997E-3</c:v>
                </c:pt>
                <c:pt idx="4">
                  <c:v>6.6E-3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AC5-4F00-B0B1-D6A5F5480B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Total Time per Grid</a:t>
            </a:r>
            <a:r>
              <a:rPr lang="en-US" baseline="0" noProof="0" dirty="0"/>
              <a:t> size</a:t>
            </a:r>
            <a:endParaRPr lang="en-US" noProof="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Tabelle1!$C$124</c:f>
              <c:strCache>
                <c:ptCount val="1"/>
                <c:pt idx="0">
                  <c:v>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Tabelle1!$D$123:$H$123</c:f>
              <c:strCache>
                <c:ptCount val="5"/>
                <c:pt idx="0">
                  <c:v>Depth 1</c:v>
                </c:pt>
                <c:pt idx="1">
                  <c:v>Depth 3</c:v>
                </c:pt>
                <c:pt idx="2">
                  <c:v>Depth 5</c:v>
                </c:pt>
                <c:pt idx="3">
                  <c:v>Depth 7</c:v>
                </c:pt>
                <c:pt idx="4">
                  <c:v>Depth 10</c:v>
                </c:pt>
              </c:strCache>
            </c:strRef>
          </c:cat>
          <c:val>
            <c:numRef>
              <c:f>Tabelle1!$D$124:$H$124</c:f>
              <c:numCache>
                <c:formatCode>0.000000</c:formatCode>
                <c:ptCount val="5"/>
                <c:pt idx="0">
                  <c:v>112.589320499973</c:v>
                </c:pt>
                <c:pt idx="1">
                  <c:v>107.02759240002985</c:v>
                </c:pt>
                <c:pt idx="2">
                  <c:v>98.854171399987464</c:v>
                </c:pt>
                <c:pt idx="3">
                  <c:v>100.31137689997551</c:v>
                </c:pt>
                <c:pt idx="4">
                  <c:v>101.77989730003081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E5-4FD2-9974-25234D7B3F7B}"/>
            </c:ext>
          </c:extLst>
        </c:ser>
        <c:ser>
          <c:idx val="1"/>
          <c:order val="1"/>
          <c:tx>
            <c:strRef>
              <c:f>Tabelle1!$C$125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Tabelle1!$D$123:$H$123</c:f>
              <c:strCache>
                <c:ptCount val="5"/>
                <c:pt idx="0">
                  <c:v>Depth 1</c:v>
                </c:pt>
                <c:pt idx="1">
                  <c:v>Depth 3</c:v>
                </c:pt>
                <c:pt idx="2">
                  <c:v>Depth 5</c:v>
                </c:pt>
                <c:pt idx="3">
                  <c:v>Depth 7</c:v>
                </c:pt>
                <c:pt idx="4">
                  <c:v>Depth 10</c:v>
                </c:pt>
              </c:strCache>
            </c:strRef>
          </c:cat>
          <c:val>
            <c:numRef>
              <c:f>Tabelle1!$D$125:$H$125</c:f>
              <c:numCache>
                <c:formatCode>0.000000</c:formatCode>
                <c:ptCount val="5"/>
                <c:pt idx="0">
                  <c:v>693.49646449999875</c:v>
                </c:pt>
                <c:pt idx="1">
                  <c:v>867.48310870001933</c:v>
                </c:pt>
                <c:pt idx="2">
                  <c:v>1042.0707571000091</c:v>
                </c:pt>
                <c:pt idx="3">
                  <c:v>1191.5927938999666</c:v>
                </c:pt>
                <c:pt idx="4">
                  <c:v>1488.9312891000236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E5-4FD2-9974-25234D7B3F7B}"/>
            </c:ext>
          </c:extLst>
        </c:ser>
        <c:ser>
          <c:idx val="2"/>
          <c:order val="2"/>
          <c:tx>
            <c:strRef>
              <c:f>Tabelle1!$C$126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Tabelle1!$D$123:$H$123</c:f>
              <c:strCache>
                <c:ptCount val="5"/>
                <c:pt idx="0">
                  <c:v>Depth 1</c:v>
                </c:pt>
                <c:pt idx="1">
                  <c:v>Depth 3</c:v>
                </c:pt>
                <c:pt idx="2">
                  <c:v>Depth 5</c:v>
                </c:pt>
                <c:pt idx="3">
                  <c:v>Depth 7</c:v>
                </c:pt>
                <c:pt idx="4">
                  <c:v>Depth 10</c:v>
                </c:pt>
              </c:strCache>
            </c:strRef>
          </c:cat>
          <c:val>
            <c:numRef>
              <c:f>Tabelle1!$D$126:$H$126</c:f>
              <c:numCache>
                <c:formatCode>0.000000</c:formatCode>
                <c:ptCount val="5"/>
                <c:pt idx="0">
                  <c:v>4421.3268159999707</c:v>
                </c:pt>
                <c:pt idx="1">
                  <c:v>12394.128421799991</c:v>
                </c:pt>
                <c:pt idx="2">
                  <c:v>25115.942279899915</c:v>
                </c:pt>
                <c:pt idx="3">
                  <c:v>53723.03923609983</c:v>
                </c:pt>
                <c:pt idx="4">
                  <c:v>105443.85842178426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E5-4FD2-9974-25234D7B3F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78160112"/>
        <c:axId val="878163472"/>
      </c:barChart>
      <c:catAx>
        <c:axId val="87816011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0" dirty="0"/>
                  <a:t>Max Depth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78163472"/>
        <c:crosses val="autoZero"/>
        <c:auto val="1"/>
        <c:lblAlgn val="ctr"/>
        <c:lblOffset val="100"/>
        <c:noMultiLvlLbl val="0"/>
      </c:catAx>
      <c:valAx>
        <c:axId val="878163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noProof="0" dirty="0"/>
                  <a:t>Time in Seconds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78160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7B9070-9281-4B15-842B-9B135EE24603}" type="datetimeFigureOut">
              <a:rPr lang="de-AT" smtClean="0"/>
              <a:t>11.06.2026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7FC8AE-2100-403C-A265-5E8967C6F3BC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652336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A4CAD-2332-440A-B5F3-F5F26A7FAEC2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FE4289-A74F-4222-9B90-D9BDCFD3E13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02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Foto Technikum Ta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BEC87-611C-4FE7-801A-2BABE5B268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8963" y="3599414"/>
            <a:ext cx="5897562" cy="439153"/>
          </a:xfrm>
        </p:spPr>
        <p:txBody>
          <a:bodyPr/>
          <a:lstStyle>
            <a:lvl1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1pPr>
          </a:lstStyle>
          <a:p>
            <a:r>
              <a:rPr lang="en-US" dirty="0" err="1"/>
              <a:t>Titel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5C50F5-E4A6-49CB-8F10-BB04F428948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28963" y="4294464"/>
            <a:ext cx="5897561" cy="359569"/>
          </a:xfrm>
        </p:spPr>
        <p:txBody>
          <a:bodyPr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9" name="Grafik 8" descr="FH Technikum Wien - University of Applied Sciences">
            <a:extLst>
              <a:ext uri="{FF2B5EF4-FFF2-40B4-BE49-F238E27FC236}">
                <a16:creationId xmlns:a16="http://schemas.microsoft.com/office/drawing/2014/main" id="{E912822A-9B89-4584-AA9B-A21C38C240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5018" y="1916907"/>
            <a:ext cx="3366982" cy="212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94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Foto Technikum Nac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A86F4-3070-4C24-8038-34CAB4816F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33971" y="3599413"/>
            <a:ext cx="5861296" cy="439153"/>
          </a:xfrm>
        </p:spPr>
        <p:txBody>
          <a:bodyPr/>
          <a:lstStyle>
            <a:lvl1pPr>
              <a:defRPr>
                <a:solidFill>
                  <a:schemeClr val="bg1"/>
                </a:solidFill>
                <a:highlight>
                  <a:srgbClr val="72777A"/>
                </a:highlight>
              </a:defRPr>
            </a:lvl1pPr>
          </a:lstStyle>
          <a:p>
            <a:r>
              <a:rPr lang="de-DE" dirty="0"/>
              <a:t>Titel</a:t>
            </a:r>
            <a:endParaRPr lang="en-GB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16AE9FB-C334-42DE-8F45-21484CB840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41785" y="4279053"/>
            <a:ext cx="5861295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highlight>
                  <a:srgbClr val="72777A"/>
                </a:highlight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5" name="Grafik 4" descr="FH Technikum Wien - University of Applied Sciences">
            <a:extLst>
              <a:ext uri="{FF2B5EF4-FFF2-40B4-BE49-F238E27FC236}">
                <a16:creationId xmlns:a16="http://schemas.microsoft.com/office/drawing/2014/main" id="{36DE48FA-9F9C-4F81-A9C6-3FAA23DE15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5018" y="1916906"/>
            <a:ext cx="3366982" cy="212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188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alken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3331747" y="3216528"/>
            <a:ext cx="5694779" cy="43313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C28234-80A7-441C-9E93-EC38F62D80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31746" y="3888000"/>
            <a:ext cx="5694779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3" name="Grafik 2" descr="FH Technikum Wien - University of Applied Sciences">
            <a:extLst>
              <a:ext uri="{FF2B5EF4-FFF2-40B4-BE49-F238E27FC236}">
                <a16:creationId xmlns:a16="http://schemas.microsoft.com/office/drawing/2014/main" id="{297655D6-11DD-4FCD-A16D-41373134CF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7656" y="1020766"/>
            <a:ext cx="417195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216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Balken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3331747" y="3216528"/>
            <a:ext cx="5694779" cy="43313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>
              <a:defRPr sz="2700">
                <a:solidFill>
                  <a:srgbClr val="005A96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993B6AF-0521-4A85-891D-947C2C556B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31746" y="3888000"/>
            <a:ext cx="5694779" cy="359569"/>
          </a:xfrm>
        </p:spPr>
        <p:txBody>
          <a:bodyPr wrap="square">
            <a:normAutofit/>
          </a:bodyPr>
          <a:lstStyle>
            <a:lvl1pPr marL="0" indent="0">
              <a:buNone/>
              <a:defRPr>
                <a:solidFill>
                  <a:srgbClr val="005A96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5" name="Grafik 4" descr="FH Technikum Wien - University of Applied Sciences">
            <a:extLst>
              <a:ext uri="{FF2B5EF4-FFF2-40B4-BE49-F238E27FC236}">
                <a16:creationId xmlns:a16="http://schemas.microsoft.com/office/drawing/2014/main" id="{521AFF37-CD1E-46E6-AE37-FDEED49D26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7656" y="1020766"/>
            <a:ext cx="417195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87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 Balken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3ED02347-5B9C-47C3-9770-0CA1C1115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084" y="3582896"/>
            <a:ext cx="5216215" cy="531903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Titel</a:t>
            </a:r>
            <a:endParaRPr lang="de-AT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861E06E-01BF-45E4-B05F-CDFA812E769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59084" y="4182295"/>
            <a:ext cx="5216215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3F895DB-6C5B-416C-840B-FDB951A385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701" y="-308648"/>
            <a:ext cx="7406598" cy="4166212"/>
          </a:xfrm>
          <a:prstGeom prst="rect">
            <a:avLst/>
          </a:prstGeom>
        </p:spPr>
      </p:pic>
      <p:pic>
        <p:nvPicPr>
          <p:cNvPr id="8" name="Grafik 7" descr="FH Technikum Wien - University of Applied Sciences">
            <a:extLst>
              <a:ext uri="{FF2B5EF4-FFF2-40B4-BE49-F238E27FC236}">
                <a16:creationId xmlns:a16="http://schemas.microsoft.com/office/drawing/2014/main" id="{1D30033D-611F-4A97-9A01-BE499811FC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874" y="3214292"/>
            <a:ext cx="2622133" cy="1652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063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nur Text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252000" y="1500740"/>
            <a:ext cx="8640000" cy="108000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4050" baseline="0">
                <a:solidFill>
                  <a:srgbClr val="72777A"/>
                </a:solidFill>
              </a:defRPr>
            </a:lvl1pPr>
          </a:lstStyle>
          <a:p>
            <a:r>
              <a:rPr lang="de-DE" dirty="0" err="1"/>
              <a:t>Präsentations</a:t>
            </a:r>
            <a:r>
              <a:rPr lang="de-DE" dirty="0"/>
              <a:t> Titel</a:t>
            </a:r>
            <a:br>
              <a:rPr lang="de-DE" dirty="0"/>
            </a:br>
            <a:r>
              <a:rPr lang="de-DE" dirty="0"/>
              <a:t>(Arial </a:t>
            </a:r>
            <a:r>
              <a:rPr lang="de-DE" dirty="0" err="1"/>
              <a:t>Bold</a:t>
            </a:r>
            <a:r>
              <a:rPr lang="de-DE" dirty="0"/>
              <a:t>, 54pt)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A4DA91-D7A9-4048-B82C-A20ED8AA6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2000" y="2663034"/>
            <a:ext cx="8640000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6" name="Grafik 5" descr="FH Technikum Wien - University of Applied Sciences">
            <a:extLst>
              <a:ext uri="{FF2B5EF4-FFF2-40B4-BE49-F238E27FC236}">
                <a16:creationId xmlns:a16="http://schemas.microsoft.com/office/drawing/2014/main" id="{857FD1FE-107F-4E9C-BAAF-2F91441FA8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88826" y="3208647"/>
            <a:ext cx="3242514" cy="204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007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nur Text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252000" y="1499456"/>
            <a:ext cx="8640000" cy="108000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4050" baseline="0">
                <a:solidFill>
                  <a:srgbClr val="005A96"/>
                </a:solidFill>
              </a:defRPr>
            </a:lvl1pPr>
          </a:lstStyle>
          <a:p>
            <a:r>
              <a:rPr lang="de-DE" dirty="0" err="1"/>
              <a:t>Präsentations</a:t>
            </a:r>
            <a:r>
              <a:rPr lang="de-DE" dirty="0"/>
              <a:t> Titel</a:t>
            </a:r>
            <a:br>
              <a:rPr lang="de-DE" dirty="0"/>
            </a:br>
            <a:r>
              <a:rPr lang="de-DE" dirty="0"/>
              <a:t>(Arial </a:t>
            </a:r>
            <a:r>
              <a:rPr lang="de-DE" dirty="0" err="1"/>
              <a:t>Bold</a:t>
            </a:r>
            <a:r>
              <a:rPr lang="de-DE" dirty="0"/>
              <a:t>, 54pt)</a:t>
            </a:r>
            <a:endParaRPr lang="de-AT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9247A6-7FA5-4C70-B8D4-64482CCCCA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2000" y="2659502"/>
            <a:ext cx="8640000" cy="359569"/>
          </a:xfrm>
        </p:spPr>
        <p:txBody>
          <a:bodyPr wrap="square">
            <a:normAutofit/>
          </a:bodyPr>
          <a:lstStyle>
            <a:lvl1pPr marL="0" indent="0" algn="r">
              <a:buNone/>
              <a:defRPr>
                <a:solidFill>
                  <a:srgbClr val="005A96"/>
                </a:solidFill>
              </a:defRPr>
            </a:lvl1pPr>
            <a:lvl2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2pPr>
            <a:lvl3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3pPr>
            <a:lvl4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4pPr>
            <a:lvl5pPr>
              <a:defRPr>
                <a:solidFill>
                  <a:schemeClr val="bg1"/>
                </a:solidFill>
                <a:highlight>
                  <a:srgbClr val="005A96"/>
                </a:highlight>
              </a:defRPr>
            </a:lvl5pPr>
          </a:lstStyle>
          <a:p>
            <a:pPr lvl="0"/>
            <a:r>
              <a:rPr lang="en-US" dirty="0" err="1"/>
              <a:t>Untertitel</a:t>
            </a:r>
            <a:r>
              <a:rPr lang="en-US" dirty="0"/>
              <a:t> / Autor</a:t>
            </a:r>
            <a:endParaRPr lang="en-AT" dirty="0"/>
          </a:p>
        </p:txBody>
      </p:sp>
      <p:pic>
        <p:nvPicPr>
          <p:cNvPr id="6" name="Grafik 5" descr="FH Technikum Wien - University of Applied Sciences">
            <a:extLst>
              <a:ext uri="{FF2B5EF4-FFF2-40B4-BE49-F238E27FC236}">
                <a16:creationId xmlns:a16="http://schemas.microsoft.com/office/drawing/2014/main" id="{6501A466-0610-40A9-AB61-914300F4FE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11312" y="3186162"/>
            <a:ext cx="3242514" cy="204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908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7532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6306D8-CDF4-4F2E-9FBD-C5E3FF89E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1" y="607500"/>
            <a:ext cx="8775319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0" name="Gerader Verbinde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37152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A27FB59-6516-4608-814D-69599966B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E27BF722-F8E8-4DC1-892E-9949A7422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85D0149-746E-4803-A83D-AA7F099F90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49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8400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491F86-EE9A-4115-A727-4BDFC52E90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A54ADA3D-EE1E-4DDD-A462-1405A7DF6A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44614" y="607500"/>
            <a:ext cx="4320000" cy="405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79EACA-542A-420D-9102-D87CB5A116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EBB329-097D-444A-8D3F-2D2FDAAC4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395CAF2-D757-4B2C-A53F-C65EB56E5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513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727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 dirty="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68791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3F425C1B-10D2-421C-8EE6-8F68F5FA0A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0" y="607500"/>
            <a:ext cx="8768791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 sz="1050"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F34B061-0D40-4791-A41B-682280B19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7E1EF4B-A968-4425-8367-098DB2AEE2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D14491A-EBBE-4FB6-8BA1-C103D150F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758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7277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58517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099191E-06C2-47AD-9B0A-CAC1645FCD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1FF655F9-8F0F-4E00-A8EE-9C12E1706B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15632" y="606217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5" name="Gerader Verbinder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EA78A91-4834-4955-816B-A33BE7851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1B1D30-8D96-496B-A7F3-BDA41722B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A200EBB-4D2E-465A-BA44-8D8FD4CE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2448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1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005A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1" y="114303"/>
            <a:ext cx="8758517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10" name="Textplatzhalter 5">
            <a:extLst>
              <a:ext uri="{FF2B5EF4-FFF2-40B4-BE49-F238E27FC236}">
                <a16:creationId xmlns:a16="http://schemas.microsoft.com/office/drawing/2014/main" id="{0F4D230B-92FB-4F80-A5D8-47442699E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0000" y="607500"/>
            <a:ext cx="8768791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 sz="1050"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13" name="Gerader Verbinde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107673A-A21E-4664-8E91-00B707F80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3828A2C-43CF-4B24-AB3D-CA11C4FC4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502DC7D-CE2C-49A4-AB84-DE425786F4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1297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02 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9144000" cy="4729447"/>
          </a:xfrm>
          <a:prstGeom prst="rect">
            <a:avLst/>
          </a:prstGeom>
          <a:solidFill>
            <a:srgbClr val="005A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350"/>
          </a:p>
        </p:txBody>
      </p:sp>
      <p:sp>
        <p:nvSpPr>
          <p:cNvPr id="23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80000" y="114303"/>
            <a:ext cx="8784000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C1810ADF-882B-4FFD-A401-52EBD2C3FF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9388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sp>
        <p:nvSpPr>
          <p:cNvPr id="16" name="Textplatzhalter 4">
            <a:extLst>
              <a:ext uri="{FF2B5EF4-FFF2-40B4-BE49-F238E27FC236}">
                <a16:creationId xmlns:a16="http://schemas.microsoft.com/office/drawing/2014/main" id="{918F80D2-235B-4BC1-AB73-F792A6E717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644000" y="607500"/>
            <a:ext cx="4320000" cy="4050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 dirty="0"/>
          </a:p>
        </p:txBody>
      </p:sp>
      <p:cxnSp>
        <p:nvCxnSpPr>
          <p:cNvPr id="24" name="Gerader Verbinde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0" y="4729447"/>
            <a:ext cx="9144000" cy="0"/>
          </a:xfrm>
          <a:prstGeom prst="line">
            <a:avLst/>
          </a:prstGeom>
          <a:ln w="12700">
            <a:solidFill>
              <a:srgbClr val="7277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55052" y="4767638"/>
            <a:ext cx="0" cy="33363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913C93F-4C12-40C1-A6ED-7A7506D85F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589EC2F-2384-4108-93D2-F2F7A4384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B062C44E-6AED-4204-AA3F-E6AC41528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04300"/>
            <a:ext cx="696991" cy="43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8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16682" y="114303"/>
            <a:ext cx="8910638" cy="43915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Folien Überschrift 1 (Arial </a:t>
            </a:r>
            <a:r>
              <a:rPr lang="de-DE" dirty="0" err="1"/>
              <a:t>Bold</a:t>
            </a:r>
            <a:r>
              <a:rPr lang="de-DE" dirty="0"/>
              <a:t>, 36pt)</a:t>
            </a:r>
            <a:br>
              <a:rPr lang="de-DE" dirty="0"/>
            </a:br>
            <a:endParaRPr lang="de-AT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16682" y="689434"/>
            <a:ext cx="8910638" cy="4042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Überschrift 2 (Arial </a:t>
            </a:r>
            <a:r>
              <a:rPr lang="de-DE" dirty="0" err="1"/>
              <a:t>Bold</a:t>
            </a:r>
            <a:r>
              <a:rPr lang="de-DE" dirty="0"/>
              <a:t>, 28pt)</a:t>
            </a:r>
          </a:p>
          <a:p>
            <a:pPr lvl="1"/>
            <a:r>
              <a:rPr lang="de-DE" dirty="0"/>
              <a:t>Überschrift 3 (Arial </a:t>
            </a:r>
            <a:r>
              <a:rPr lang="de-DE" dirty="0" err="1"/>
              <a:t>Bold</a:t>
            </a:r>
            <a:r>
              <a:rPr lang="de-DE" dirty="0"/>
              <a:t>, 24pt)</a:t>
            </a:r>
          </a:p>
          <a:p>
            <a:pPr marL="857228" marR="0" lvl="2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Laufschrift </a:t>
            </a:r>
            <a:r>
              <a:rPr lang="de-DE" dirty="0" err="1"/>
              <a:t>mindestgröße</a:t>
            </a:r>
            <a:r>
              <a:rPr lang="de-DE" dirty="0"/>
              <a:t> (Arial, 18pt)</a:t>
            </a:r>
          </a:p>
          <a:p>
            <a:pPr marL="1285843" marR="0" lvl="3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Laufschrift </a:t>
            </a:r>
            <a:r>
              <a:rPr lang="de-DE" dirty="0" err="1"/>
              <a:t>mindestgröße</a:t>
            </a:r>
            <a:r>
              <a:rPr lang="de-DE" dirty="0"/>
              <a:t> (Arial, 16pt)</a:t>
            </a:r>
          </a:p>
          <a:p>
            <a:pPr marL="1543012" marR="0" lvl="4" indent="-171446" algn="l" defTabSz="685783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lang="de-DE" dirty="0"/>
              <a:t>Fünfte Ebene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E08F28-5ED9-497F-8AE1-EDBEA8C7CD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93304" y="4812504"/>
            <a:ext cx="567424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en-US"/>
              <a:t>Root-State and Child-State Q-table Abstraction | Stefan Werner | 31.05.2026</a:t>
            </a:r>
            <a:endParaRPr lang="en-GB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65B2D6C-EFE7-43C3-BA49-A7C81C2B5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42066" y="4812504"/>
            <a:ext cx="48525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9C057DB4-583E-41A7-BD94-987342018C17}" type="slidenum">
              <a:rPr lang="en-GB" smtClean="0"/>
              <a:pPr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3087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7" r:id="rId4"/>
    <p:sldLayoutId id="2147483669" r:id="rId5"/>
    <p:sldLayoutId id="2147483660" r:id="rId6"/>
    <p:sldLayoutId id="2147483659" r:id="rId7"/>
    <p:sldLayoutId id="2147483662" r:id="rId8"/>
    <p:sldLayoutId id="2147483665" r:id="rId9"/>
    <p:sldLayoutId id="2147483661" r:id="rId10"/>
    <p:sldLayoutId id="2147483666" r:id="rId11"/>
    <p:sldLayoutId id="2147483664" r:id="rId12"/>
    <p:sldLayoutId id="2147483668" r:id="rId13"/>
  </p:sldLayoutIdLst>
  <p:hf hd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2700" b="1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375"/>
        </a:spcBef>
        <a:spcAft>
          <a:spcPts val="375"/>
        </a:spcAft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spcAft>
          <a:spcPts val="375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marR="0" indent="-171446" algn="l" defTabSz="685783" rtl="0" eaLnBrk="1" fontAlgn="auto" latinLnBrk="0" hangingPunct="1">
        <a:lnSpc>
          <a:spcPct val="90000"/>
        </a:lnSpc>
        <a:spcBef>
          <a:spcPts val="375"/>
        </a:spcBef>
        <a:spcAft>
          <a:spcPts val="375"/>
        </a:spcAft>
        <a:buClrTx/>
        <a:buSzTx/>
        <a:buFont typeface="Symbol" panose="05050102010706020507" pitchFamily="18" charset="2"/>
        <a:buChar char="-"/>
        <a:tabLst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85843" marR="0" indent="-171446" algn="l" defTabSz="685783" rtl="0" eaLnBrk="1" fontAlgn="auto" latinLnBrk="0" hangingPunct="1">
        <a:lnSpc>
          <a:spcPct val="90000"/>
        </a:lnSpc>
        <a:spcBef>
          <a:spcPts val="375"/>
        </a:spcBef>
        <a:spcAft>
          <a:spcPts val="0"/>
        </a:spcAft>
        <a:buClrTx/>
        <a:buSzTx/>
        <a:buFont typeface="Symbol" panose="05050102010706020507" pitchFamily="18" charset="2"/>
        <a:buChar char="-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4" userDrawn="1">
          <p15:clr>
            <a:srgbClr val="F26B43"/>
          </p15:clr>
        </p15:guide>
        <p15:guide id="2" orient="horz" pos="72" userDrawn="1">
          <p15:clr>
            <a:srgbClr val="F26B43"/>
          </p15:clr>
        </p15:guide>
        <p15:guide id="3" orient="horz" pos="2981" userDrawn="1">
          <p15:clr>
            <a:srgbClr val="F26B43"/>
          </p15:clr>
        </p15:guide>
        <p15:guide id="4" pos="5687" userDrawn="1">
          <p15:clr>
            <a:srgbClr val="F26B43"/>
          </p15:clr>
        </p15:guide>
        <p15:guide id="5" orient="horz" pos="1620" userDrawn="1">
          <p15:clr>
            <a:srgbClr val="F26B43"/>
          </p15:clr>
        </p15:guide>
        <p15:guide id="6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1EE7A55-1D41-490E-91EF-6B1065D2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2400" noProof="0" dirty="0">
                <a:solidFill>
                  <a:srgbClr val="1D2733"/>
                </a:solidFill>
              </a:rPr>
              <a:t>Development of a root-state and child-state abstraction algorithm for the game 2048</a:t>
            </a:r>
            <a:br>
              <a:rPr lang="en-US" sz="2400" noProof="0" dirty="0"/>
            </a:br>
            <a:endParaRPr lang="en-US" noProof="0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441A083-FC77-4905-9200-20D18E8DDF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US" noProof="0" dirty="0"/>
              <a:t> Stefan Werner</a:t>
            </a:r>
          </a:p>
        </p:txBody>
      </p:sp>
    </p:spTree>
    <p:extLst>
      <p:ext uri="{BB962C8B-B14F-4D97-AF65-F5344CB8AC3E}">
        <p14:creationId xmlns:p14="http://schemas.microsoft.com/office/powerpoint/2010/main" val="2734687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4FD04E-F4E5-4C20-8824-ED6C28B10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Motivation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82ADF10E-43B0-4A66-975F-E9169C64D98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Similar states and actions saved</a:t>
            </a:r>
          </a:p>
          <a:p>
            <a:r>
              <a:rPr lang="en-US" noProof="0" dirty="0"/>
              <a:t>Problem with larger state spaces</a:t>
            </a:r>
          </a:p>
          <a:p>
            <a:r>
              <a:rPr lang="en-US" noProof="0" dirty="0"/>
              <a:t>Storage space increases</a:t>
            </a:r>
          </a:p>
          <a:p>
            <a:r>
              <a:rPr lang="en-US" noProof="0" dirty="0"/>
              <a:t>Many structurally similar states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D62C21-1674-431C-9889-D591E8EF7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793304" y="4812504"/>
            <a:ext cx="5674248" cy="273844"/>
          </a:xfrm>
        </p:spPr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6F73CB9-9AFC-44F1-9B35-8462F4B4D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8542066" y="4812504"/>
            <a:ext cx="485255" cy="273844"/>
          </a:xfrm>
        </p:spPr>
        <p:txBody>
          <a:bodyPr/>
          <a:lstStyle/>
          <a:p>
            <a:fld id="{9C057DB4-583E-41A7-BD94-987342018C17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A79CB2C-7935-B35D-021A-6D8FF5639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960" y="2632500"/>
            <a:ext cx="4343400" cy="182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09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0803CD6-09DC-4143-8EFF-1E4281599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Methods</a:t>
            </a:r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48356A9-08D0-27A8-A12B-EF81980084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Splitting existing Q-table in parent table and child table</a:t>
            </a:r>
          </a:p>
          <a:p>
            <a:r>
              <a:rPr lang="en-US" noProof="0" dirty="0"/>
              <a:t>State is depicted as a matrix</a:t>
            </a:r>
          </a:p>
          <a:p>
            <a:r>
              <a:rPr lang="en-US" noProof="0" dirty="0"/>
              <a:t>Sequence of operations (example “</a:t>
            </a:r>
            <a:r>
              <a:rPr lang="en-US" noProof="0" dirty="0" err="1"/>
              <a:t>rdvm</a:t>
            </a:r>
            <a:r>
              <a:rPr lang="en-US" noProof="0" dirty="0"/>
              <a:t>”)</a:t>
            </a:r>
          </a:p>
          <a:p>
            <a:r>
              <a:rPr lang="en-US" noProof="0" dirty="0"/>
              <a:t>Rotation, mirroring and scaling</a:t>
            </a:r>
          </a:p>
          <a:p>
            <a:r>
              <a:rPr lang="en-US" noProof="0" dirty="0"/>
              <a:t>Parent saves Q-values child saves changes from parent</a:t>
            </a:r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E26B2AA-2CE4-4629-8E28-AA9263ED9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2B704B6-27A5-4159-A557-675FBE4CF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3</a:t>
            </a:fld>
            <a:endParaRPr lang="en-US" noProof="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2E99140-F3A1-3F0B-67C9-6E54EB093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260" y="2632500"/>
            <a:ext cx="4622800" cy="182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396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862F84-10EA-3A37-DB6F-2C063CCD6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Procedure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174DF26-189E-5E01-C0AA-CE3E7B77CC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Testing environments: </a:t>
            </a:r>
            <a:br>
              <a:rPr lang="en-US" noProof="0" dirty="0"/>
            </a:br>
            <a:r>
              <a:rPr lang="en-US" noProof="0" dirty="0"/>
              <a:t>2x2, 3x3, 4x4</a:t>
            </a:r>
          </a:p>
          <a:p>
            <a:r>
              <a:rPr lang="en-US" noProof="0" dirty="0"/>
              <a:t>Save original Q-table</a:t>
            </a:r>
            <a:br>
              <a:rPr lang="en-US" noProof="0" dirty="0"/>
            </a:br>
            <a:r>
              <a:rPr lang="en-US" noProof="0" dirty="0"/>
              <a:t>for comparison later</a:t>
            </a:r>
          </a:p>
          <a:p>
            <a:r>
              <a:rPr lang="en-US" noProof="0" dirty="0"/>
              <a:t>Reconstruction step </a:t>
            </a:r>
            <a:br>
              <a:rPr lang="en-US" noProof="0" dirty="0"/>
            </a:br>
            <a:r>
              <a:rPr lang="en-US" noProof="0" dirty="0"/>
              <a:t>uses the same </a:t>
            </a:r>
            <a:br>
              <a:rPr lang="en-US" noProof="0" dirty="0"/>
            </a:br>
            <a:r>
              <a:rPr lang="en-US" noProof="0" dirty="0"/>
              <a:t>methods as Splitting</a:t>
            </a:r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723B7B1-6B63-49B1-CA25-F9F9C55AED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D8019F-D790-397E-F9FD-795A6F33BF0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4</a:t>
            </a:fld>
            <a:endParaRPr lang="en-US" noProof="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8870B293-434F-F680-B679-D8471DD8E2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7178" y="57152"/>
            <a:ext cx="5726702" cy="2757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16D5EB1-72D4-7B4C-7B06-52B8ACEDDD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8253" y="2740118"/>
            <a:ext cx="4903469" cy="1917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944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04A4-9E8A-DA72-50B5-7B6F8B48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75FD997-5312-E436-6E4A-B4EB29D9F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280" y="1674874"/>
            <a:ext cx="5697227" cy="286112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51C0DB1-55F7-749B-6259-2FA3E6DC6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Splitting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2D4E6C-7D56-43A6-42DC-E6E0A42943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Splitting via the „</a:t>
            </a:r>
            <a:r>
              <a:rPr lang="en-US" noProof="0" dirty="0" err="1"/>
              <a:t>PreCalculator</a:t>
            </a:r>
            <a:r>
              <a:rPr lang="en-US" noProof="0" dirty="0"/>
              <a:t>“</a:t>
            </a:r>
          </a:p>
          <a:p>
            <a:r>
              <a:rPr lang="en-US" noProof="0" dirty="0"/>
              <a:t>Operations applied to parent (BFS)</a:t>
            </a:r>
          </a:p>
          <a:p>
            <a:r>
              <a:rPr lang="en-US" noProof="0" dirty="0"/>
              <a:t>All reached states temporarily saved</a:t>
            </a:r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41922D-B8C6-2861-C2BB-20F1C110355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609D82D-631A-F425-4802-40130ACA493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5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1E98618-D836-F61C-013E-7D5BCFD4C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046" y="333879"/>
            <a:ext cx="2438740" cy="102884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60054FC-53B3-C340-8093-699D5499F841}"/>
              </a:ext>
            </a:extLst>
          </p:cNvPr>
          <p:cNvSpPr txBox="1"/>
          <p:nvPr/>
        </p:nvSpPr>
        <p:spPr>
          <a:xfrm>
            <a:off x="6370320" y="1455420"/>
            <a:ext cx="914400" cy="914400"/>
          </a:xfrm>
          <a:prstGeom prst="rect">
            <a:avLst/>
          </a:prstGeom>
        </p:spPr>
        <p:txBody>
          <a:bodyPr vert="horz" wrap="none" lIns="91440" tIns="45720" rIns="91440" bIns="45720" rtlCol="0" anchor="t">
            <a:normAutofit/>
          </a:bodyPr>
          <a:lstStyle/>
          <a:p>
            <a:pPr algn="l"/>
            <a:endParaRPr lang="en-US" sz="2800" noProof="0" dirty="0"/>
          </a:p>
        </p:txBody>
      </p:sp>
    </p:spTree>
    <p:extLst>
      <p:ext uri="{BB962C8B-B14F-4D97-AF65-F5344CB8AC3E}">
        <p14:creationId xmlns:p14="http://schemas.microsoft.com/office/powerpoint/2010/main" val="3436323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2F4ED-A758-2BC4-C19E-AF3D5EB10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Saving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89501C-1005-804C-7D95-22EF8802F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Looping through original Q-table</a:t>
            </a:r>
          </a:p>
          <a:p>
            <a:r>
              <a:rPr lang="en-US" noProof="0" dirty="0"/>
              <a:t>Applying “</a:t>
            </a:r>
            <a:r>
              <a:rPr lang="en-US" noProof="0" dirty="0" err="1"/>
              <a:t>PreCalculator</a:t>
            </a:r>
            <a:r>
              <a:rPr lang="en-US" noProof="0" dirty="0"/>
              <a:t>”</a:t>
            </a:r>
          </a:p>
          <a:p>
            <a:r>
              <a:rPr lang="en-US" noProof="0" dirty="0"/>
              <a:t>If state in temporary table </a:t>
            </a:r>
            <a:r>
              <a:rPr lang="en-US" noProof="0" dirty="0">
                <a:sym typeface="Wingdings" panose="05000000000000000000" pitchFamily="2" charset="2"/>
              </a:rPr>
              <a:t> child state of the tested state</a:t>
            </a:r>
          </a:p>
          <a:p>
            <a:r>
              <a:rPr lang="en-US" noProof="0" dirty="0">
                <a:sym typeface="Wingdings" panose="05000000000000000000" pitchFamily="2" charset="2"/>
              </a:rPr>
              <a:t>Else  new parent state</a:t>
            </a:r>
          </a:p>
          <a:p>
            <a:r>
              <a:rPr lang="en-US" noProof="0" dirty="0">
                <a:sym typeface="Wingdings" panose="05000000000000000000" pitchFamily="2" charset="2"/>
              </a:rPr>
              <a:t>Saving parent and child tables</a:t>
            </a: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DF80724-FC41-1584-8114-3240CF857CC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B0BDC4-AE8D-26BB-17DB-BB4B4A563FC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6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76CA5B8-F337-201F-42FA-A717DC196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93" y="2715831"/>
            <a:ext cx="8170333" cy="1820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670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B6533A-35AE-9E1E-B512-1E4E11B14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Reconstruction and Evaluation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7C291CB-A98D-656F-62CA-EC5AE23D5B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Reconstruction done in reverse order</a:t>
            </a:r>
          </a:p>
          <a:p>
            <a:r>
              <a:rPr lang="en-US" noProof="0" dirty="0"/>
              <a:t>Reconstructed table formed out of parent </a:t>
            </a:r>
            <a:br>
              <a:rPr lang="en-US" noProof="0" dirty="0"/>
            </a:br>
            <a:r>
              <a:rPr lang="en-US" noProof="0" dirty="0"/>
              <a:t>and child table</a:t>
            </a:r>
          </a:p>
          <a:p>
            <a:r>
              <a:rPr lang="en-US" noProof="0" dirty="0"/>
              <a:t>If needed best direction is applied</a:t>
            </a:r>
          </a:p>
          <a:p>
            <a:r>
              <a:rPr lang="en-US" noProof="0" dirty="0"/>
              <a:t>“Force” best direction:</a:t>
            </a:r>
          </a:p>
          <a:p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53CF35C-A6A8-55C9-50F4-819BDDBE75E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6D19510-141F-9D86-4680-8CD39580863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7</a:t>
            </a:fld>
            <a:endParaRPr lang="en-US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02CB35D-24A1-F6FB-EA93-F7BD193B3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6683" y="1969631"/>
            <a:ext cx="4940617" cy="2741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1060B8A-E254-6AC4-7EBB-C27EEC7C3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4" y="2521153"/>
            <a:ext cx="3210837" cy="18840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D49EF8A-F80C-7551-CD2E-7FBE5E03A0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0689" y="469927"/>
            <a:ext cx="2534004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38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E4026-81C9-95C2-E483-599B3305E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platzhalter 2">
                <a:extLst>
                  <a:ext uri="{FF2B5EF4-FFF2-40B4-BE49-F238E27FC236}">
                    <a16:creationId xmlns:a16="http://schemas.microsoft.com/office/drawing/2014/main" id="{189BB41A-D9BD-E7B8-BEAB-F00DB43BA595}"/>
                  </a:ext>
                </a:extLst>
              </p:cNvPr>
              <p:cNvSpPr>
                <a:spLocks noGrp="1"/>
              </p:cNvSpPr>
              <p:nvPr>
                <p:ph type="body" sz="quarter" idx="14"/>
              </p:nvPr>
            </p:nvSpPr>
            <p:spPr/>
            <p:txBody>
              <a:bodyPr/>
              <a:lstStyle/>
              <a:p>
                <a:r>
                  <a:rPr lang="en-US" noProof="0" dirty="0"/>
                  <a:t>Evaluation metrics: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𝑟𝑒𝑑𝑢𝑐𝑡𝑖𝑜𝑛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𝑆𝑡𝑜𝑟𝑎𝑔𝑒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𝑟𝑒𝑑𝑢𝑐𝑡𝑖𝑜𝑛</m:t>
                    </m:r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1 −</m:t>
                    </m:r>
                    <m:f>
                      <m:f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500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500" i="1" noProof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sz="1500" i="1" noProof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num>
                      <m:den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𝑎𝑏𝑠𝑡𝑟𝑎𝑐𝑡𝑖𝑜𝑛</m:t>
                        </m:r>
                      </m:sub>
                      <m:sup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sz="1500" noProof="0" dirty="0"/>
                  <a:t>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𝑐h𝑖𝑙𝑑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𝑎𝑏𝑠𝑡𝑟𝑎𝑐𝑡𝑖𝑜𝑛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𝑟𝑎𝑡𝑖𝑜</m:t>
                    </m:r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5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noProof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5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noProof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d>
                      </m:den>
                    </m:f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𝑐h𝑖𝑙𝑑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𝑝𝑒𝑟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𝑝𝑎𝑟𝑒𝑛𝑡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𝑟𝑎𝑡𝑖𝑜</m:t>
                    </m:r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5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noProof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5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500" i="1" noProof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den>
                    </m:f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𝑎𝑔𝑟𝑒𝑒𝑚𝑒𝑛𝑡</m:t>
                        </m:r>
                      </m:sub>
                    </m:sSub>
                  </m:oMath>
                </a14:m>
                <a:r>
                  <a:rPr lang="en-US" sz="1500" noProof="0" dirty="0"/>
                  <a:t>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𝑃𝑜𝑙𝑖𝑐𝑦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𝑎𝑔𝑟𝑒𝑒𝑚𝑒𝑛𝑡</m:t>
                    </m:r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𝑒𝑟𝑟𝑜𝑟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𝑣𝑎𝑙𝑢𝑒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𝑒𝑟𝑟𝑜𝑟</m:t>
                    </m:r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𝑜𝑣𝑒𝑟h𝑒𝑎𝑑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𝑅𝑢𝑛𝑡𝑖𝑚𝑒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𝑜𝑣𝑒𝑟h𝑒𝑎𝑑</m:t>
                    </m:r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𝑠𝑝𝑙𝑖𝑡</m:t>
                        </m:r>
                      </m:sub>
                    </m:sSub>
                    <m:r>
                      <a:rPr lang="en-US" sz="1500" i="1" noProof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𝑟𝑒𝑐𝑜𝑛𝑠𝑡𝑟𝑢𝑐𝑡𝑒𝑑</m:t>
                        </m:r>
                      </m:sub>
                    </m:sSub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𝑜𝑣𝑒𝑟h𝑒𝑎𝑑</m:t>
                        </m:r>
                      </m:sub>
                    </m:sSub>
                  </m:oMath>
                </a14:m>
                <a:r>
                  <a:rPr lang="en-US" sz="1500" noProof="0" dirty="0"/>
                  <a:t> 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𝑀𝑒𝑚𝑜𝑟𝑦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𝑜𝑏𝑒𝑟h𝑒𝑎𝑑</m:t>
                    </m:r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500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i="1" noProof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1500" i="1" noProof="0">
                                <a:latin typeface="Cambria Math" panose="02040503050406030204" pitchFamily="18" charset="0"/>
                              </a:rPr>
                              <m:t>𝑝𝑟𝑜𝑐𝑒𝑠𝑠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1500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i="1" noProof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1500" i="1" noProof="0">
                                <a:latin typeface="Cambria Math" panose="02040503050406030204" pitchFamily="18" charset="0"/>
                              </a:rPr>
                              <m:t>𝑛𝑜𝑟𝑚𝑎𝑙</m:t>
                            </m:r>
                          </m:sub>
                        </m:sSub>
                      </m:den>
                    </m:f>
                  </m:oMath>
                </a14:m>
                <a:endParaRPr lang="en-US" sz="1500" noProof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noProof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500" i="1" noProof="0">
                            <a:latin typeface="Cambria Math" panose="02040503050406030204" pitchFamily="18" charset="0"/>
                          </a:rPr>
                          <m:t>𝑎𝑣𝑒𝑟𝑎𝑔𝑒</m:t>
                        </m:r>
                      </m:sub>
                    </m:sSub>
                  </m:oMath>
                </a14:m>
                <a:r>
                  <a:rPr lang="en-US" sz="1500" noProof="0" dirty="0"/>
                  <a:t>		</a:t>
                </a:r>
                <a14:m>
                  <m:oMath xmlns:m="http://schemas.openxmlformats.org/officeDocument/2006/math">
                    <m:r>
                      <a:rPr lang="en-US" sz="1500" i="1" noProof="0">
                        <a:latin typeface="Cambria Math" panose="02040503050406030204" pitchFamily="18" charset="0"/>
                      </a:rPr>
                      <m:t>𝑏𝑒𝑠𝑡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𝑎𝑣𝑒𝑟𝑎𝑔𝑒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500" i="1" noProof="0">
                        <a:latin typeface="Cambria Math" panose="02040503050406030204" pitchFamily="18" charset="0"/>
                      </a:rPr>
                      <m:t>𝑡𝑎𝑏𝑙𝑒</m:t>
                    </m:r>
                  </m:oMath>
                </a14:m>
                <a:r>
                  <a:rPr lang="en-US" sz="1500" noProof="0" dirty="0"/>
                  <a:t>		</a:t>
                </a:r>
              </a:p>
              <a:p>
                <a:endParaRPr lang="en-US" noProof="0" dirty="0"/>
              </a:p>
            </p:txBody>
          </p:sp>
        </mc:Choice>
        <mc:Fallback>
          <p:sp>
            <p:nvSpPr>
              <p:cNvPr id="3" name="Textplatzhalter 2">
                <a:extLst>
                  <a:ext uri="{FF2B5EF4-FFF2-40B4-BE49-F238E27FC236}">
                    <a16:creationId xmlns:a16="http://schemas.microsoft.com/office/drawing/2014/main" id="{189BB41A-D9BD-E7B8-BEAB-F00DB43BA5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4"/>
              </p:nvPr>
            </p:nvSpPr>
            <p:spPr>
              <a:blipFill>
                <a:blip r:embed="rId2"/>
                <a:stretch>
                  <a:fillRect l="-695" t="-195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1BDA3D1-754D-AC97-5FEB-24D5168541B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CF3C22-0A48-6E98-43CD-20AD8C66FB3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737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CD0E9-78A3-3F77-F640-334E7BDC9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Results – Storage Reduction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BFFC034-382B-74DE-040D-0FDCAF60EC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3x3 environment achieves up to </a:t>
            </a:r>
            <a:br>
              <a:rPr lang="en-US" noProof="0" dirty="0"/>
            </a:br>
            <a:r>
              <a:rPr lang="en-US" noProof="0" dirty="0"/>
              <a:t>56% storage reduction</a:t>
            </a:r>
          </a:p>
          <a:p>
            <a:r>
              <a:rPr lang="en-US" noProof="0" dirty="0"/>
              <a:t>2x2 starts at increased storage </a:t>
            </a:r>
            <a:br>
              <a:rPr lang="en-US" noProof="0" dirty="0"/>
            </a:br>
            <a:r>
              <a:rPr lang="en-US" noProof="0" dirty="0"/>
              <a:t>with -4% and ends at </a:t>
            </a:r>
            <a:br>
              <a:rPr lang="en-US" noProof="0" dirty="0"/>
            </a:br>
            <a:r>
              <a:rPr lang="en-US" noProof="0" dirty="0"/>
              <a:t>25% reduction </a:t>
            </a:r>
          </a:p>
          <a:p>
            <a:r>
              <a:rPr lang="en-US" noProof="0" dirty="0"/>
              <a:t>4x4 has the least reduction </a:t>
            </a:r>
            <a:br>
              <a:rPr lang="en-US" noProof="0" dirty="0"/>
            </a:br>
            <a:r>
              <a:rPr lang="en-US" noProof="0" dirty="0"/>
              <a:t>with an average of 5%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33E218-F4E9-22DA-3F22-0ACF924BA5A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C14B5B3-9C1D-CB81-A407-CA1DDCAB479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9</a:t>
            </a:fld>
            <a:endParaRPr lang="en-US" noProof="0" dirty="0"/>
          </a:p>
        </p:txBody>
      </p:sp>
      <p:graphicFrame>
        <p:nvGraphicFramePr>
          <p:cNvPr id="7" name="Chart 0">
            <a:extLst>
              <a:ext uri="{FF2B5EF4-FFF2-40B4-BE49-F238E27FC236}">
                <a16:creationId xmlns:a16="http://schemas.microsoft.com/office/drawing/2014/main" id="{F1BFB43F-C6F3-3BDF-FC13-8177933E93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674640"/>
              </p:ext>
            </p:extLst>
          </p:nvPr>
        </p:nvGraphicFramePr>
        <p:xfrm>
          <a:off x="4567660" y="486000"/>
          <a:ext cx="4266398" cy="26534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6D1311D3-3138-A3AC-D2BF-E2A66CA553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760176"/>
              </p:ext>
            </p:extLst>
          </p:nvPr>
        </p:nvGraphicFramePr>
        <p:xfrm>
          <a:off x="3045398" y="3616004"/>
          <a:ext cx="5788660" cy="97631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91945">
                  <a:extLst>
                    <a:ext uri="{9D8B030D-6E8A-4147-A177-3AD203B41FA5}">
                      <a16:colId xmlns:a16="http://schemas.microsoft.com/office/drawing/2014/main" val="3804688559"/>
                    </a:ext>
                  </a:extLst>
                </a:gridCol>
                <a:gridCol w="801370">
                  <a:extLst>
                    <a:ext uri="{9D8B030D-6E8A-4147-A177-3AD203B41FA5}">
                      <a16:colId xmlns:a16="http://schemas.microsoft.com/office/drawing/2014/main" val="3112031393"/>
                    </a:ext>
                  </a:extLst>
                </a:gridCol>
                <a:gridCol w="919480">
                  <a:extLst>
                    <a:ext uri="{9D8B030D-6E8A-4147-A177-3AD203B41FA5}">
                      <a16:colId xmlns:a16="http://schemas.microsoft.com/office/drawing/2014/main" val="3076357523"/>
                    </a:ext>
                  </a:extLst>
                </a:gridCol>
                <a:gridCol w="848995">
                  <a:extLst>
                    <a:ext uri="{9D8B030D-6E8A-4147-A177-3AD203B41FA5}">
                      <a16:colId xmlns:a16="http://schemas.microsoft.com/office/drawing/2014/main" val="4206055796"/>
                    </a:ext>
                  </a:extLst>
                </a:gridCol>
                <a:gridCol w="813435">
                  <a:extLst>
                    <a:ext uri="{9D8B030D-6E8A-4147-A177-3AD203B41FA5}">
                      <a16:colId xmlns:a16="http://schemas.microsoft.com/office/drawing/2014/main" val="360212409"/>
                    </a:ext>
                  </a:extLst>
                </a:gridCol>
                <a:gridCol w="813435">
                  <a:extLst>
                    <a:ext uri="{9D8B030D-6E8A-4147-A177-3AD203B41FA5}">
                      <a16:colId xmlns:a16="http://schemas.microsoft.com/office/drawing/2014/main" val="410201912"/>
                    </a:ext>
                  </a:extLst>
                </a:gridCol>
              </a:tblGrid>
              <a:tr h="17843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Storage Reduction 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 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 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 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 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 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extLst>
                  <a:ext uri="{0D108BD9-81ED-4DB2-BD59-A6C34878D82A}">
                    <a16:rowId xmlns:a16="http://schemas.microsoft.com/office/drawing/2014/main" val="3765084441"/>
                  </a:ext>
                </a:extLst>
              </a:tr>
              <a:tr h="17843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Grid Size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1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5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7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10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266513019"/>
                  </a:ext>
                </a:extLst>
              </a:tr>
              <a:tr h="17208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2x2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- 4%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11%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18%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21%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4755625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3x3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28%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56%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2391277409"/>
                  </a:ext>
                </a:extLst>
              </a:tr>
              <a:tr h="178435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4x4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3%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6%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5%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49314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7894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2402EF-DB24-CC4D-790D-D495AEE1B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Results – Policy Agreement &amp; Q-value Error 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889880-B199-B6DB-E107-844A3B932C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Policy agreement never below 99,6 percent</a:t>
            </a:r>
          </a:p>
          <a:p>
            <a:r>
              <a:rPr lang="en-US" noProof="0" dirty="0"/>
              <a:t>Average q-error less than 0,5</a:t>
            </a:r>
          </a:p>
          <a:p>
            <a:r>
              <a:rPr lang="en-US" noProof="0" dirty="0"/>
              <a:t>Game performance nearly identical</a:t>
            </a:r>
          </a:p>
          <a:p>
            <a:r>
              <a:rPr lang="en-US" noProof="0" dirty="0"/>
              <a:t>But q-values not the same</a:t>
            </a:r>
          </a:p>
          <a:p>
            <a:pPr marL="0" indent="0">
              <a:buNone/>
            </a:pP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CD61B2-C647-5CC6-45DC-158F98212E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10D757-2494-8C2B-0312-CC46032B644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10</a:t>
            </a:fld>
            <a:endParaRPr lang="en-US" noProof="0" dirty="0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1323C5CB-7318-280D-4E82-E1FAD85D71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8078932"/>
              </p:ext>
            </p:extLst>
          </p:nvPr>
        </p:nvGraphicFramePr>
        <p:xfrm>
          <a:off x="377946" y="2131022"/>
          <a:ext cx="4058049" cy="23700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1">
            <a:extLst>
              <a:ext uri="{FF2B5EF4-FFF2-40B4-BE49-F238E27FC236}">
                <a16:creationId xmlns:a16="http://schemas.microsoft.com/office/drawing/2014/main" id="{C2D234A8-907F-7C02-4820-525F84344A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47696697"/>
              </p:ext>
            </p:extLst>
          </p:nvPr>
        </p:nvGraphicFramePr>
        <p:xfrm>
          <a:off x="4633940" y="2131022"/>
          <a:ext cx="4272194" cy="2508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29154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E6EFA4-F25C-CD00-A446-F85EAC453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Results – Time and Memory Overhead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B65076A-E034-85A6-35F5-83C25AB907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No significant memory overhead</a:t>
            </a:r>
          </a:p>
          <a:p>
            <a:r>
              <a:rPr lang="en-US" noProof="0" dirty="0"/>
              <a:t>Extreme time overhead</a:t>
            </a:r>
          </a:p>
          <a:p>
            <a:r>
              <a:rPr lang="en-US" noProof="0" dirty="0"/>
              <a:t>Time </a:t>
            </a:r>
            <a:r>
              <a:rPr lang="en-US" dirty="0"/>
              <a:t>o</a:t>
            </a:r>
            <a:r>
              <a:rPr lang="en-US" noProof="0" dirty="0" err="1"/>
              <a:t>verhead</a:t>
            </a:r>
            <a:r>
              <a:rPr lang="en-US" noProof="0" dirty="0"/>
              <a:t> increased with </a:t>
            </a:r>
            <a:br>
              <a:rPr lang="en-US" noProof="0" dirty="0"/>
            </a:br>
            <a:r>
              <a:rPr lang="en-US" noProof="0" dirty="0"/>
              <a:t>each „</a:t>
            </a:r>
            <a:r>
              <a:rPr lang="en-US" noProof="0" dirty="0" err="1"/>
              <a:t>PreCalculator</a:t>
            </a:r>
            <a:r>
              <a:rPr lang="en-US" noProof="0" dirty="0"/>
              <a:t>“ depth</a:t>
            </a:r>
          </a:p>
          <a:p>
            <a:pPr marL="0" indent="0">
              <a:buNone/>
            </a:pP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9E5EA8-6EF6-E6F2-803C-A59E9B7B5F3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5E878D4-C22F-5375-5D54-D04B821808D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11</a:t>
            </a:fld>
            <a:endParaRPr lang="en-US" noProof="0" dirty="0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89504AE7-3541-A10C-FC2A-8AA120559F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58840502"/>
              </p:ext>
            </p:extLst>
          </p:nvPr>
        </p:nvGraphicFramePr>
        <p:xfrm>
          <a:off x="5050368" y="553456"/>
          <a:ext cx="3976953" cy="36393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0F2B41AD-6C63-8EE6-3483-51012BAB9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282557"/>
              </p:ext>
            </p:extLst>
          </p:nvPr>
        </p:nvGraphicFramePr>
        <p:xfrm>
          <a:off x="237230" y="3655633"/>
          <a:ext cx="5765800" cy="97631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600051307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278174808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61813217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386008613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336135783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42416019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Time Relativity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3228936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 err="1">
                          <a:effectLst/>
                        </a:rPr>
                        <a:t>Grid_Size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1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5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7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Depth 10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3627833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2x2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0,00123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0,00285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0,00335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0,00414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0,00539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165870323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3x3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0,59742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0,98558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1,36360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2,31417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3,18643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16253271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4x4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2,17796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8,44021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17,75082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35,74774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30000"/>
                        </a:lnSpc>
                        <a:buNone/>
                      </a:pPr>
                      <a:r>
                        <a:rPr lang="en-US" sz="1100" noProof="0" dirty="0">
                          <a:effectLst/>
                        </a:rPr>
                        <a:t>72,16574</a:t>
                      </a:r>
                      <a:endParaRPr lang="en-US" sz="1100" noProof="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 anchor="ctr"/>
                </a:tc>
                <a:extLst>
                  <a:ext uri="{0D108BD9-81ED-4DB2-BD59-A6C34878D82A}">
                    <a16:rowId xmlns:a16="http://schemas.microsoft.com/office/drawing/2014/main" val="730548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6953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5DB71E-5843-AAC3-7E12-D474A1D95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Conclusion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AF92CD-B148-EDF3-5643-1CCC6B2B9EC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Parent and child abstraction can reduce storage without great loss of information</a:t>
            </a:r>
          </a:p>
          <a:p>
            <a:r>
              <a:rPr lang="en-US" dirty="0"/>
              <a:t>Game performance nearly identical with reduction in storage space of 56% percent</a:t>
            </a:r>
            <a:endParaRPr lang="en-US" noProof="0" dirty="0"/>
          </a:p>
          <a:p>
            <a:r>
              <a:rPr lang="en-US" noProof="0" dirty="0"/>
              <a:t>Not practical due to time overhead</a:t>
            </a:r>
          </a:p>
          <a:p>
            <a:r>
              <a:rPr lang="en-US" noProof="0" dirty="0"/>
              <a:t>3x3 environment shows best results</a:t>
            </a:r>
          </a:p>
          <a:p>
            <a:r>
              <a:rPr lang="en-US" noProof="0" dirty="0"/>
              <a:t>4x4 is to large given the current operation set</a:t>
            </a:r>
          </a:p>
          <a:p>
            <a:r>
              <a:rPr lang="en-US" dirty="0"/>
              <a:t>Action values of parent inevitably leads to loss of information</a:t>
            </a: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37A1230-C667-13DC-55D2-3BF32C335AC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282C4D-5D9B-DF82-F237-5166ADA96D4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12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999550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5649AA-69A6-DF09-78A8-2016B3872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Challenges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8C2FE42-2880-A5C2-C8EA-131CA7373C8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Extremely long waiting time for 4x4 environment</a:t>
            </a:r>
          </a:p>
          <a:p>
            <a:r>
              <a:rPr lang="en-US" dirty="0"/>
              <a:t>Splitting algorithm</a:t>
            </a:r>
          </a:p>
          <a:p>
            <a:r>
              <a:rPr lang="en-US" noProof="0" dirty="0"/>
              <a:t>Better operations</a:t>
            </a:r>
          </a:p>
          <a:p>
            <a:r>
              <a:rPr lang="en-US" noProof="0" dirty="0"/>
              <a:t>Policy agreement</a:t>
            </a:r>
          </a:p>
          <a:p>
            <a:r>
              <a:rPr lang="en-US" noProof="0" dirty="0"/>
              <a:t>Training on 2 tables instead of 1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2E94B2F-AC21-DD07-A546-5818E369DBC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45D3737-6DFF-01FC-450C-79960D5EA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13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85731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ED1802-CEF5-1621-6D78-39C97A0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Outlook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FB04C0-604C-1513-A195-4BD0F808A4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Optimization of the splitting algorithm</a:t>
            </a:r>
          </a:p>
          <a:p>
            <a:r>
              <a:rPr lang="en-US" dirty="0"/>
              <a:t>Intelligent parent state selection</a:t>
            </a:r>
          </a:p>
          <a:p>
            <a:r>
              <a:rPr lang="en-US" noProof="0" dirty="0"/>
              <a:t>Adaptive searching</a:t>
            </a:r>
          </a:p>
          <a:p>
            <a:r>
              <a:rPr lang="en-US" dirty="0"/>
              <a:t>Adaptive “</a:t>
            </a:r>
            <a:r>
              <a:rPr lang="en-US" dirty="0" err="1"/>
              <a:t>PreCalculator</a:t>
            </a:r>
            <a:r>
              <a:rPr lang="en-US" dirty="0"/>
              <a:t>” depth search</a:t>
            </a:r>
          </a:p>
          <a:p>
            <a:r>
              <a:rPr lang="en-US" noProof="0" dirty="0"/>
              <a:t>Increased storage reduction</a:t>
            </a:r>
          </a:p>
          <a:p>
            <a:r>
              <a:rPr lang="en-US" dirty="0"/>
              <a:t>Reduction in Loss of information</a:t>
            </a:r>
          </a:p>
          <a:p>
            <a:r>
              <a:rPr lang="en-US" dirty="0"/>
              <a:t>Operation Concepts such as:</a:t>
            </a:r>
          </a:p>
          <a:p>
            <a:pPr lvl="1"/>
            <a:r>
              <a:rPr lang="en-US" dirty="0"/>
              <a:t>Edge expansion, Triangle detection, chunk detection</a:t>
            </a: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E0C6322-A887-B15B-2E90-CA38AFD96FA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 dirty="0"/>
              <a:t>Root-State and Child-State Q-table Abstraction | Stefan Werner | 31.05.2026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174200-C0EA-AFFA-4270-431F670E3A5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9C057DB4-583E-41A7-BD94-987342018C17}" type="slidenum">
              <a:rPr lang="en-US" noProof="0" smtClean="0"/>
              <a:pPr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5333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2">
      <a:dk1>
        <a:sysClr val="windowText" lastClr="000000"/>
      </a:dk1>
      <a:lt1>
        <a:sysClr val="window" lastClr="FFFFFF"/>
      </a:lt1>
      <a:dk2>
        <a:srgbClr val="72777A"/>
      </a:dk2>
      <a:lt2>
        <a:srgbClr val="FFFFFF"/>
      </a:lt2>
      <a:accent1>
        <a:srgbClr val="72777A"/>
      </a:accent1>
      <a:accent2>
        <a:srgbClr val="AAADAF"/>
      </a:accent2>
      <a:accent3>
        <a:srgbClr val="8BB31D"/>
      </a:accent3>
      <a:accent4>
        <a:srgbClr val="B9D177"/>
      </a:accent4>
      <a:accent5>
        <a:srgbClr val="00649C"/>
      </a:accent5>
      <a:accent6>
        <a:srgbClr val="66A2C4"/>
      </a:accent6>
      <a:hlink>
        <a:srgbClr val="00649C"/>
      </a:hlink>
      <a:folHlink>
        <a:srgbClr val="323F4F"/>
      </a:folHlink>
    </a:clrScheme>
    <a:fontScheme name="Benutzerdefiniert 1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t">
        <a:normAutofit/>
      </a:bodyPr>
      <a:lstStyle>
        <a:defPPr algn="l">
          <a:defRPr sz="2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3" id="{15EC8A32-EFA0-4B0B-AC0F-1D8CF766F1E4}" vid="{CE16643F-63A4-48FC-8B61-AF37F67178D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5A6A176E201304DBCA7A45266A0DAAE" ma:contentTypeVersion="5" ma:contentTypeDescription="Ein neues Dokument erstellen." ma:contentTypeScope="" ma:versionID="d88ff1cb79a342c70fa6bb8aeaf67b39">
  <xsd:schema xmlns:xsd="http://www.w3.org/2001/XMLSchema" xmlns:xs="http://www.w3.org/2001/XMLSchema" xmlns:p="http://schemas.microsoft.com/office/2006/metadata/properties" xmlns:ns3="0cfff6e3-632b-49cb-b70b-702b936689ff" targetNamespace="http://schemas.microsoft.com/office/2006/metadata/properties" ma:root="true" ma:fieldsID="93c081cb8b485355971f8d67c31482cf" ns3:_="">
    <xsd:import namespace="0cfff6e3-632b-49cb-b70b-702b936689f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fff6e3-632b-49cb-b70b-702b936689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B66ED67-DB0D-40B3-9F54-7F30370BB7A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FB10ABA-C20B-4DD7-8166-4C8134DFECA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fff6e3-632b-49cb-b70b-702b936689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E70B53E-5918-4A48-B895-E57A7C6FD7C8}">
  <ds:schemaRefs>
    <ds:schemaRef ds:uri="http://www.w3.org/XML/1998/namespace"/>
    <ds:schemaRef ds:uri="http://purl.org/dc/terms/"/>
    <ds:schemaRef ds:uri="http://purl.org/dc/dcmitype/"/>
    <ds:schemaRef ds:uri="http://purl.org/dc/elements/1.1/"/>
    <ds:schemaRef ds:uri="0cfff6e3-632b-49cb-b70b-702b936689ff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FHTW Powerpoint-Vorlage 16zu9 -accessible-2022-01-31 (1)</Template>
  <TotalTime>0</TotalTime>
  <Words>718</Words>
  <Application>Microsoft Office PowerPoint</Application>
  <PresentationFormat>Bildschirmpräsentation (16:9)</PresentationFormat>
  <Paragraphs>164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1" baseType="lpstr">
      <vt:lpstr>Arial</vt:lpstr>
      <vt:lpstr>Calibri</vt:lpstr>
      <vt:lpstr>Cambria Math</vt:lpstr>
      <vt:lpstr>Symbol</vt:lpstr>
      <vt:lpstr>Times New Roman</vt:lpstr>
      <vt:lpstr>Wingdings</vt:lpstr>
      <vt:lpstr>Office</vt:lpstr>
      <vt:lpstr>Development of a root-state and child-state abstraction algorithm for the game 2048 </vt:lpstr>
      <vt:lpstr>Motivation</vt:lpstr>
      <vt:lpstr>Methods</vt:lpstr>
      <vt:lpstr>Procedure</vt:lpstr>
      <vt:lpstr>Splitting</vt:lpstr>
      <vt:lpstr>Saving</vt:lpstr>
      <vt:lpstr>Reconstruction and Evaluation</vt:lpstr>
      <vt:lpstr>Evaluation</vt:lpstr>
      <vt:lpstr>Results – Storage Reduction</vt:lpstr>
      <vt:lpstr>Results – Policy Agreement &amp; Q-value Error </vt:lpstr>
      <vt:lpstr>Results – Time and Memory Overhead</vt:lpstr>
      <vt:lpstr>Conclusion</vt:lpstr>
      <vt:lpstr>Challenges</vt:lpstr>
      <vt:lpstr>Outlook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Werner</dc:creator>
  <cp:lastModifiedBy>Stefan Werner</cp:lastModifiedBy>
  <cp:revision>6</cp:revision>
  <dcterms:created xsi:type="dcterms:W3CDTF">2026-05-31T10:54:57Z</dcterms:created>
  <dcterms:modified xsi:type="dcterms:W3CDTF">2026-06-11T12:32:14Z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0x01010045A6A176E201304DBCA7A45266A0DAAE</vt:lpwstr>
  </property>
</Properties>
</file>